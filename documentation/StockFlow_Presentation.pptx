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60" r:id="rId8"/>
    <p:sldId id="261" r:id="rId9"/>
    <p:sldId id="269" r:id="rId10"/>
    <p:sldId id="271" r:id="rId11"/>
    <p:sldId id="270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BED"/>
    <a:srgbClr val="2C227A"/>
    <a:srgbClr val="9081CD"/>
    <a:srgbClr val="1F1A5C"/>
    <a:srgbClr val="C5BAFC"/>
    <a:srgbClr val="786BAB"/>
    <a:srgbClr val="A297D9"/>
    <a:srgbClr val="372A65"/>
    <a:srgbClr val="63578A"/>
    <a:srgbClr val="745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4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71BD6E-ACBD-440C-8327-D2C790BEFF71}" type="doc">
      <dgm:prSet loTypeId="urn:microsoft.com/office/officeart/2005/8/layout/vList2" loCatId="list" qsTypeId="urn:microsoft.com/office/officeart/2005/8/quickstyle/simple1#18" qsCatId="simple" csTypeId="urn:microsoft.com/office/officeart/2005/8/colors/accent1_2#15" csCatId="accent1"/>
      <dgm:spPr/>
      <dgm:t>
        <a:bodyPr/>
        <a:lstStyle/>
        <a:p>
          <a:endParaRPr lang="en-US"/>
        </a:p>
      </dgm:t>
    </dgm:pt>
    <dgm:pt modelId="{F3E278F3-543D-41E9-AFDE-35EFEA934DF9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Актуальні залишки складно контролювати 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0EEE7A4F-4B98-45F8-9B47-5707221A53F4}" type="parTrans" cxnId="{0180A655-BAE8-401B-9AB2-6196A1546BB8}">
      <dgm:prSet/>
      <dgm:spPr/>
      <dgm:t>
        <a:bodyPr/>
        <a:lstStyle/>
        <a:p>
          <a:endParaRPr lang="en-US"/>
        </a:p>
      </dgm:t>
    </dgm:pt>
    <dgm:pt modelId="{4651FFB9-2599-4CB9-91EF-9C79640138D7}" type="sibTrans" cxnId="{0180A655-BAE8-401B-9AB2-6196A1546BB8}">
      <dgm:prSet/>
      <dgm:spPr/>
      <dgm:t>
        <a:bodyPr/>
        <a:lstStyle/>
        <a:p>
          <a:endParaRPr lang="en-US"/>
        </a:p>
      </dgm:t>
    </dgm:pt>
    <dgm:pt modelId="{8E2A2839-5218-4876-9DDE-EE3B15AEDBE7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Велика кількість ручної роботи 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065C7345-A174-405E-B7D6-09E1C3D7D6F9}" type="parTrans" cxnId="{9EE7DB5C-1A64-4781-BADD-A3F0F7374BA5}">
      <dgm:prSet/>
      <dgm:spPr/>
      <dgm:t>
        <a:bodyPr/>
        <a:lstStyle/>
        <a:p>
          <a:endParaRPr lang="en-US"/>
        </a:p>
      </dgm:t>
    </dgm:pt>
    <dgm:pt modelId="{F6BE7C8A-8413-40DB-A835-21066A09C497}" type="sibTrans" cxnId="{9EE7DB5C-1A64-4781-BADD-A3F0F7374BA5}">
      <dgm:prSet/>
      <dgm:spPr/>
      <dgm:t>
        <a:bodyPr/>
        <a:lstStyle/>
        <a:p>
          <a:endParaRPr lang="en-US"/>
        </a:p>
      </dgm:t>
    </dgm:pt>
    <dgm:pt modelId="{3AD2B9DB-1BFB-439E-BE86-BFECA2BA6085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Високий ризик помилок у даних та накладних 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4CFE7028-0599-4803-8F19-AD177117019A}" type="parTrans" cxnId="{0EA142DC-8162-4923-9516-3EED344E7E3E}">
      <dgm:prSet/>
      <dgm:spPr/>
      <dgm:t>
        <a:bodyPr/>
        <a:lstStyle/>
        <a:p>
          <a:endParaRPr lang="en-US"/>
        </a:p>
      </dgm:t>
    </dgm:pt>
    <dgm:pt modelId="{B76B7F30-D36D-4F2F-A8DB-95367006523F}" type="sibTrans" cxnId="{0EA142DC-8162-4923-9516-3EED344E7E3E}">
      <dgm:prSet/>
      <dgm:spPr/>
      <dgm:t>
        <a:bodyPr/>
        <a:lstStyle/>
        <a:p>
          <a:endParaRPr lang="en-US"/>
        </a:p>
      </dgm:t>
    </dgm:pt>
    <dgm:pt modelId="{5082C9DC-69A8-4637-A825-FFF70B880D3A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Складно відстежувати рух товарів 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36C349E9-19D4-4A8A-90CB-51B0938E606F}" type="parTrans" cxnId="{3FEF1446-3859-4AF5-AE09-5344F95AF185}">
      <dgm:prSet/>
      <dgm:spPr/>
      <dgm:t>
        <a:bodyPr/>
        <a:lstStyle/>
        <a:p>
          <a:endParaRPr lang="en-US"/>
        </a:p>
      </dgm:t>
    </dgm:pt>
    <dgm:pt modelId="{DF8EFB15-3D4A-482E-AA85-1EBFDF26746A}" type="sibTrans" cxnId="{3FEF1446-3859-4AF5-AE09-5344F95AF185}">
      <dgm:prSet/>
      <dgm:spPr/>
      <dgm:t>
        <a:bodyPr/>
        <a:lstStyle/>
        <a:p>
          <a:endParaRPr lang="en-US"/>
        </a:p>
      </dgm:t>
    </dgm:pt>
    <dgm:pt modelId="{D6BEE710-964A-4A92-AFE0-86AD67615062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Ризик продажу відсутнього товару 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A2537242-F4C4-4773-AEE8-E4F29B68DA73}" type="parTrans" cxnId="{2D0CFE70-4A01-4089-A6BF-FA501FA1999C}">
      <dgm:prSet/>
      <dgm:spPr/>
      <dgm:t>
        <a:bodyPr/>
        <a:lstStyle/>
        <a:p>
          <a:endParaRPr lang="en-US"/>
        </a:p>
      </dgm:t>
    </dgm:pt>
    <dgm:pt modelId="{08F5678B-19FE-4187-A286-801E92A03452}" type="sibTrans" cxnId="{2D0CFE70-4A01-4089-A6BF-FA501FA1999C}">
      <dgm:prSet/>
      <dgm:spPr/>
      <dgm:t>
        <a:bodyPr/>
        <a:lstStyle/>
        <a:p>
          <a:endParaRPr lang="en-US"/>
        </a:p>
      </dgm:t>
    </dgm:pt>
    <dgm:pt modelId="{D9C4EF4B-8DCA-41B4-9C8C-D1BB19A320D7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Немає своєчасного контролю низьких залишків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5D64FBAB-B7AA-4585-BEFA-6D6444B29EC2}" type="parTrans" cxnId="{9114A42D-D2A2-4A5F-B6B3-5938A6552D49}">
      <dgm:prSet/>
      <dgm:spPr/>
      <dgm:t>
        <a:bodyPr/>
        <a:lstStyle/>
        <a:p>
          <a:endParaRPr lang="en-US"/>
        </a:p>
      </dgm:t>
    </dgm:pt>
    <dgm:pt modelId="{1B3938AB-FA43-4C05-A4E1-228228F6669F}" type="sibTrans" cxnId="{9114A42D-D2A2-4A5F-B6B3-5938A6552D49}">
      <dgm:prSet/>
      <dgm:spPr/>
      <dgm:t>
        <a:bodyPr/>
        <a:lstStyle/>
        <a:p>
          <a:endParaRPr lang="en-US"/>
        </a:p>
      </dgm:t>
    </dgm:pt>
    <dgm:pt modelId="{1E088291-951D-4B54-AC64-B9CBC20D0409}" type="pres">
      <dgm:prSet presAssocID="{2471BD6E-ACBD-440C-8327-D2C790BEFF71}" presName="linear" presStyleCnt="0">
        <dgm:presLayoutVars>
          <dgm:animLvl val="lvl"/>
          <dgm:resizeHandles val="exact"/>
        </dgm:presLayoutVars>
      </dgm:prSet>
      <dgm:spPr/>
    </dgm:pt>
    <dgm:pt modelId="{A59B7D21-3694-4091-82FF-FE983539C86C}" type="pres">
      <dgm:prSet presAssocID="{F3E278F3-543D-41E9-AFDE-35EFEA934DF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C3F0EFE-DE12-4470-8D37-336397C0E557}" type="pres">
      <dgm:prSet presAssocID="{4651FFB9-2599-4CB9-91EF-9C79640138D7}" presName="spacer" presStyleCnt="0"/>
      <dgm:spPr/>
    </dgm:pt>
    <dgm:pt modelId="{2154CDE8-73A5-4F9B-B762-BE2F5A35AFFA}" type="pres">
      <dgm:prSet presAssocID="{8E2A2839-5218-4876-9DDE-EE3B15AEDBE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07F3B4B-98FC-406F-A5B4-7262EF3038C2}" type="pres">
      <dgm:prSet presAssocID="{F6BE7C8A-8413-40DB-A835-21066A09C497}" presName="spacer" presStyleCnt="0"/>
      <dgm:spPr/>
    </dgm:pt>
    <dgm:pt modelId="{7B6A9896-8783-4292-B4A8-13B8ACDF4E1E}" type="pres">
      <dgm:prSet presAssocID="{3AD2B9DB-1BFB-439E-BE86-BFECA2BA608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0CF1464-9869-4888-A6D2-E33D3686EA3E}" type="pres">
      <dgm:prSet presAssocID="{B76B7F30-D36D-4F2F-A8DB-95367006523F}" presName="spacer" presStyleCnt="0"/>
      <dgm:spPr/>
    </dgm:pt>
    <dgm:pt modelId="{6E98689E-CFC6-4DD9-ACEC-99A780910F06}" type="pres">
      <dgm:prSet presAssocID="{5082C9DC-69A8-4637-A825-FFF70B880D3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F81718E-9127-4DE1-94E9-30B12C086C3B}" type="pres">
      <dgm:prSet presAssocID="{DF8EFB15-3D4A-482E-AA85-1EBFDF26746A}" presName="spacer" presStyleCnt="0"/>
      <dgm:spPr/>
    </dgm:pt>
    <dgm:pt modelId="{B2CFD69C-BBD2-4573-BC36-E9D5B8AC4790}" type="pres">
      <dgm:prSet presAssocID="{D6BEE710-964A-4A92-AFE0-86AD6761506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66CCD3C-837C-4B93-A653-11C8CA42BE0C}" type="pres">
      <dgm:prSet presAssocID="{08F5678B-19FE-4187-A286-801E92A03452}" presName="spacer" presStyleCnt="0"/>
      <dgm:spPr/>
    </dgm:pt>
    <dgm:pt modelId="{BB5E32E7-674C-42EE-9E39-8C9A6734D8C6}" type="pres">
      <dgm:prSet presAssocID="{D9C4EF4B-8DCA-41B4-9C8C-D1BB19A320D7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19EC916-D7DD-4A4E-BA7F-AED074CAFA95}" type="presOf" srcId="{D9C4EF4B-8DCA-41B4-9C8C-D1BB19A320D7}" destId="{BB5E32E7-674C-42EE-9E39-8C9A6734D8C6}" srcOrd="0" destOrd="0" presId="urn:microsoft.com/office/officeart/2005/8/layout/vList2"/>
    <dgm:cxn modelId="{BC1FB121-D9A2-4460-B047-98D20ABF1FA5}" type="presOf" srcId="{5082C9DC-69A8-4637-A825-FFF70B880D3A}" destId="{6E98689E-CFC6-4DD9-ACEC-99A780910F06}" srcOrd="0" destOrd="0" presId="urn:microsoft.com/office/officeart/2005/8/layout/vList2"/>
    <dgm:cxn modelId="{9114A42D-D2A2-4A5F-B6B3-5938A6552D49}" srcId="{2471BD6E-ACBD-440C-8327-D2C790BEFF71}" destId="{D9C4EF4B-8DCA-41B4-9C8C-D1BB19A320D7}" srcOrd="5" destOrd="0" parTransId="{5D64FBAB-B7AA-4585-BEFA-6D6444B29EC2}" sibTransId="{1B3938AB-FA43-4C05-A4E1-228228F6669F}"/>
    <dgm:cxn modelId="{B0DAB333-6A7F-45E3-9D6F-4C8B29D65F7B}" type="presOf" srcId="{2471BD6E-ACBD-440C-8327-D2C790BEFF71}" destId="{1E088291-951D-4B54-AC64-B9CBC20D0409}" srcOrd="0" destOrd="0" presId="urn:microsoft.com/office/officeart/2005/8/layout/vList2"/>
    <dgm:cxn modelId="{9EE7DB5C-1A64-4781-BADD-A3F0F7374BA5}" srcId="{2471BD6E-ACBD-440C-8327-D2C790BEFF71}" destId="{8E2A2839-5218-4876-9DDE-EE3B15AEDBE7}" srcOrd="1" destOrd="0" parTransId="{065C7345-A174-405E-B7D6-09E1C3D7D6F9}" sibTransId="{F6BE7C8A-8413-40DB-A835-21066A09C497}"/>
    <dgm:cxn modelId="{3FEF1446-3859-4AF5-AE09-5344F95AF185}" srcId="{2471BD6E-ACBD-440C-8327-D2C790BEFF71}" destId="{5082C9DC-69A8-4637-A825-FFF70B880D3A}" srcOrd="3" destOrd="0" parTransId="{36C349E9-19D4-4A8A-90CB-51B0938E606F}" sibTransId="{DF8EFB15-3D4A-482E-AA85-1EBFDF26746A}"/>
    <dgm:cxn modelId="{6A46EE6D-AE3C-462A-AACE-92505D1C9474}" type="presOf" srcId="{3AD2B9DB-1BFB-439E-BE86-BFECA2BA6085}" destId="{7B6A9896-8783-4292-B4A8-13B8ACDF4E1E}" srcOrd="0" destOrd="0" presId="urn:microsoft.com/office/officeart/2005/8/layout/vList2"/>
    <dgm:cxn modelId="{2D0CFE70-4A01-4089-A6BF-FA501FA1999C}" srcId="{2471BD6E-ACBD-440C-8327-D2C790BEFF71}" destId="{D6BEE710-964A-4A92-AFE0-86AD67615062}" srcOrd="4" destOrd="0" parTransId="{A2537242-F4C4-4773-AEE8-E4F29B68DA73}" sibTransId="{08F5678B-19FE-4187-A286-801E92A03452}"/>
    <dgm:cxn modelId="{0180A655-BAE8-401B-9AB2-6196A1546BB8}" srcId="{2471BD6E-ACBD-440C-8327-D2C790BEFF71}" destId="{F3E278F3-543D-41E9-AFDE-35EFEA934DF9}" srcOrd="0" destOrd="0" parTransId="{0EEE7A4F-4B98-45F8-9B47-5707221A53F4}" sibTransId="{4651FFB9-2599-4CB9-91EF-9C79640138D7}"/>
    <dgm:cxn modelId="{EF28BA86-31FD-4AA3-82C6-A0A5DC63EB16}" type="presOf" srcId="{D6BEE710-964A-4A92-AFE0-86AD67615062}" destId="{B2CFD69C-BBD2-4573-BC36-E9D5B8AC4790}" srcOrd="0" destOrd="0" presId="urn:microsoft.com/office/officeart/2005/8/layout/vList2"/>
    <dgm:cxn modelId="{DF0F5D97-BA20-41C0-8F35-A0B310B5B03F}" type="presOf" srcId="{8E2A2839-5218-4876-9DDE-EE3B15AEDBE7}" destId="{2154CDE8-73A5-4F9B-B762-BE2F5A35AFFA}" srcOrd="0" destOrd="0" presId="urn:microsoft.com/office/officeart/2005/8/layout/vList2"/>
    <dgm:cxn modelId="{0EA142DC-8162-4923-9516-3EED344E7E3E}" srcId="{2471BD6E-ACBD-440C-8327-D2C790BEFF71}" destId="{3AD2B9DB-1BFB-439E-BE86-BFECA2BA6085}" srcOrd="2" destOrd="0" parTransId="{4CFE7028-0599-4803-8F19-AD177117019A}" sibTransId="{B76B7F30-D36D-4F2F-A8DB-95367006523F}"/>
    <dgm:cxn modelId="{B86167DE-96CF-450E-8D39-B6EB73EB2DB3}" type="presOf" srcId="{F3E278F3-543D-41E9-AFDE-35EFEA934DF9}" destId="{A59B7D21-3694-4091-82FF-FE983539C86C}" srcOrd="0" destOrd="0" presId="urn:microsoft.com/office/officeart/2005/8/layout/vList2"/>
    <dgm:cxn modelId="{225EAE5D-0312-45C6-ADAC-29F25B857255}" type="presParOf" srcId="{1E088291-951D-4B54-AC64-B9CBC20D0409}" destId="{A59B7D21-3694-4091-82FF-FE983539C86C}" srcOrd="0" destOrd="0" presId="urn:microsoft.com/office/officeart/2005/8/layout/vList2"/>
    <dgm:cxn modelId="{E4182939-795A-4CB9-B7AD-40F3EC7AEA31}" type="presParOf" srcId="{1E088291-951D-4B54-AC64-B9CBC20D0409}" destId="{3C3F0EFE-DE12-4470-8D37-336397C0E557}" srcOrd="1" destOrd="0" presId="urn:microsoft.com/office/officeart/2005/8/layout/vList2"/>
    <dgm:cxn modelId="{DA0DC074-361C-4720-B4FC-D661DB53E270}" type="presParOf" srcId="{1E088291-951D-4B54-AC64-B9CBC20D0409}" destId="{2154CDE8-73A5-4F9B-B762-BE2F5A35AFFA}" srcOrd="2" destOrd="0" presId="urn:microsoft.com/office/officeart/2005/8/layout/vList2"/>
    <dgm:cxn modelId="{5CBCCE89-A1E0-432E-8F88-4FD40DF98C7E}" type="presParOf" srcId="{1E088291-951D-4B54-AC64-B9CBC20D0409}" destId="{A07F3B4B-98FC-406F-A5B4-7262EF3038C2}" srcOrd="3" destOrd="0" presId="urn:microsoft.com/office/officeart/2005/8/layout/vList2"/>
    <dgm:cxn modelId="{17C6C23D-1F32-424C-A0A2-C8F8A53CD35C}" type="presParOf" srcId="{1E088291-951D-4B54-AC64-B9CBC20D0409}" destId="{7B6A9896-8783-4292-B4A8-13B8ACDF4E1E}" srcOrd="4" destOrd="0" presId="urn:microsoft.com/office/officeart/2005/8/layout/vList2"/>
    <dgm:cxn modelId="{CCA2FCBA-6D62-4F43-9635-105FC3F853C2}" type="presParOf" srcId="{1E088291-951D-4B54-AC64-B9CBC20D0409}" destId="{20CF1464-9869-4888-A6D2-E33D3686EA3E}" srcOrd="5" destOrd="0" presId="urn:microsoft.com/office/officeart/2005/8/layout/vList2"/>
    <dgm:cxn modelId="{1AE973FC-54FD-4D83-9BBB-CAAD51844CA0}" type="presParOf" srcId="{1E088291-951D-4B54-AC64-B9CBC20D0409}" destId="{6E98689E-CFC6-4DD9-ACEC-99A780910F06}" srcOrd="6" destOrd="0" presId="urn:microsoft.com/office/officeart/2005/8/layout/vList2"/>
    <dgm:cxn modelId="{2024DC63-CA1A-4820-8CAC-48D11BDF688E}" type="presParOf" srcId="{1E088291-951D-4B54-AC64-B9CBC20D0409}" destId="{DF81718E-9127-4DE1-94E9-30B12C086C3B}" srcOrd="7" destOrd="0" presId="urn:microsoft.com/office/officeart/2005/8/layout/vList2"/>
    <dgm:cxn modelId="{99F716F0-F56E-477E-9FE2-F6DA01E01B54}" type="presParOf" srcId="{1E088291-951D-4B54-AC64-B9CBC20D0409}" destId="{B2CFD69C-BBD2-4573-BC36-E9D5B8AC4790}" srcOrd="8" destOrd="0" presId="urn:microsoft.com/office/officeart/2005/8/layout/vList2"/>
    <dgm:cxn modelId="{F5DF7C81-A175-4E64-8CF3-AB5BC3600F3E}" type="presParOf" srcId="{1E088291-951D-4B54-AC64-B9CBC20D0409}" destId="{466CCD3C-837C-4B93-A653-11C8CA42BE0C}" srcOrd="9" destOrd="0" presId="urn:microsoft.com/office/officeart/2005/8/layout/vList2"/>
    <dgm:cxn modelId="{6AB5BE7A-5193-4BB0-9437-0BD91496A44D}" type="presParOf" srcId="{1E088291-951D-4B54-AC64-B9CBC20D0409}" destId="{BB5E32E7-674C-42EE-9E39-8C9A6734D8C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D9B1C1-0188-472C-9AFD-3A9F56B8FE9D}" type="doc">
      <dgm:prSet loTypeId="urn:microsoft.com/office/officeart/2005/8/layout/vList2" loCatId="list" qsTypeId="urn:microsoft.com/office/officeart/2005/8/quickstyle/simple1#31" qsCatId="simple" csTypeId="urn:microsoft.com/office/officeart/2005/8/colors/accent1_2#26" csCatId="accent1" phldr="1"/>
      <dgm:spPr/>
      <dgm:t>
        <a:bodyPr/>
        <a:lstStyle/>
        <a:p>
          <a:endParaRPr lang="en-US"/>
        </a:p>
      </dgm:t>
    </dgm:pt>
    <dgm:pt modelId="{8B849A1E-9418-4879-B713-CEB3FB732434}">
      <dgm:prSet/>
      <dgm:spPr/>
      <dgm:t>
        <a:bodyPr/>
        <a:lstStyle/>
        <a:p>
          <a:r>
            <a:rPr lang="uk-UA" b="1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Переваги:</a:t>
          </a:r>
          <a:endParaRPr lang="en-US" b="1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946A67AA-8730-4B30-B733-1F980D567F4C}" type="parTrans" cxnId="{76EC75C5-CC27-415F-91C7-B6FA1561289F}">
      <dgm:prSet/>
      <dgm:spPr/>
      <dgm:t>
        <a:bodyPr/>
        <a:lstStyle/>
        <a:p>
          <a:endParaRPr lang="en-US"/>
        </a:p>
      </dgm:t>
    </dgm:pt>
    <dgm:pt modelId="{ADEAF26D-A343-436D-9994-28893D173712}" type="sibTrans" cxnId="{76EC75C5-CC27-415F-91C7-B6FA1561289F}">
      <dgm:prSet/>
      <dgm:spPr/>
      <dgm:t>
        <a:bodyPr/>
        <a:lstStyle/>
        <a:p>
          <a:endParaRPr lang="en-US"/>
        </a:p>
      </dgm:t>
    </dgm:pt>
    <dgm:pt modelId="{F02934D0-1317-4845-AA9C-73E3E43BCF30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1. Дуже широкий функціонал.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53C9665D-3150-4D7D-A30A-0D7800C52D80}" type="parTrans" cxnId="{20B06C99-EE79-4FF7-B458-E9A1F0E779CA}">
      <dgm:prSet/>
      <dgm:spPr/>
      <dgm:t>
        <a:bodyPr/>
        <a:lstStyle/>
        <a:p>
          <a:endParaRPr lang="en-US"/>
        </a:p>
      </dgm:t>
    </dgm:pt>
    <dgm:pt modelId="{C9CA91FB-9D26-495A-9462-406B4B7A21F6}" type="sibTrans" cxnId="{20B06C99-EE79-4FF7-B458-E9A1F0E779CA}">
      <dgm:prSet/>
      <dgm:spPr/>
      <dgm:t>
        <a:bodyPr/>
        <a:lstStyle/>
        <a:p>
          <a:endParaRPr lang="en-US"/>
        </a:p>
      </dgm:t>
    </dgm:pt>
    <dgm:pt modelId="{CAB95C73-46DC-4AB0-8337-365782592B84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2. Детальний складський облік.</a:t>
          </a: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46BD04DB-68BF-4A8B-B21C-6A0F814FBDD2}" type="parTrans" cxnId="{D42816E8-7950-49C5-A225-54205E5F3910}">
      <dgm:prSet/>
      <dgm:spPr/>
      <dgm:t>
        <a:bodyPr/>
        <a:lstStyle/>
        <a:p>
          <a:endParaRPr lang="en-US"/>
        </a:p>
      </dgm:t>
    </dgm:pt>
    <dgm:pt modelId="{B4822EB8-AAF6-4693-BBBC-1F2FFC0B6035}" type="sibTrans" cxnId="{D42816E8-7950-49C5-A225-54205E5F3910}">
      <dgm:prSet/>
      <dgm:spPr/>
      <dgm:t>
        <a:bodyPr/>
        <a:lstStyle/>
        <a:p>
          <a:endParaRPr lang="en-US"/>
        </a:p>
      </dgm:t>
    </dgm:pt>
    <dgm:pt modelId="{F6207853-8172-4A06-935F-F008B5DBEC94}">
      <dgm:prSet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4. Масштабованість.</a:t>
          </a:r>
          <a:b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</a:br>
          <a:endParaRPr lang="en-US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158A922F-9F1B-4F79-BB87-3869B8981B96}" type="parTrans" cxnId="{67CA0CD2-F42D-4B1A-99C9-3D8F8F2F29E5}">
      <dgm:prSet/>
      <dgm:spPr/>
      <dgm:t>
        <a:bodyPr/>
        <a:lstStyle/>
        <a:p>
          <a:endParaRPr lang="en-US"/>
        </a:p>
      </dgm:t>
    </dgm:pt>
    <dgm:pt modelId="{91FFEDBD-BF7A-4444-8ACB-217899070C24}" type="sibTrans" cxnId="{67CA0CD2-F42D-4B1A-99C9-3D8F8F2F29E5}">
      <dgm:prSet/>
      <dgm:spPr/>
      <dgm:t>
        <a:bodyPr/>
        <a:lstStyle/>
        <a:p>
          <a:endParaRPr lang="en-US"/>
        </a:p>
      </dgm:t>
    </dgm:pt>
    <dgm:pt modelId="{50B85EC0-ABCE-44F8-B773-6DA0BCBB4861}">
      <dgm:prSet phldrT="[Текст]"/>
      <dgm:spPr/>
      <dgm:t>
        <a:bodyPr/>
        <a:lstStyle/>
        <a:p>
          <a:r>
            <a:rPr lang="uk-UA" dirty="0">
              <a:latin typeface="Cavolini" panose="03000502040302020204" pitchFamily="66" charset="0"/>
              <a:cs typeface="Cavolini" panose="03000502040302020204" pitchFamily="66" charset="0"/>
            </a:rPr>
            <a:t>3. Орієнтація на український бізнес.</a:t>
          </a:r>
        </a:p>
      </dgm:t>
    </dgm:pt>
    <dgm:pt modelId="{1015E0CA-D636-4AB9-B794-4D93484019E5}" type="parTrans" cxnId="{FF49E968-7FE4-44D9-B795-BE09AC2D6588}">
      <dgm:prSet/>
      <dgm:spPr/>
      <dgm:t>
        <a:bodyPr/>
        <a:lstStyle/>
        <a:p>
          <a:endParaRPr lang="uk-UA"/>
        </a:p>
      </dgm:t>
    </dgm:pt>
    <dgm:pt modelId="{DF8E950D-E86A-46A6-B952-466F80B2D45F}" type="sibTrans" cxnId="{FF49E968-7FE4-44D9-B795-BE09AC2D6588}">
      <dgm:prSet/>
      <dgm:spPr/>
      <dgm:t>
        <a:bodyPr/>
        <a:lstStyle/>
        <a:p>
          <a:endParaRPr lang="uk-UA"/>
        </a:p>
      </dgm:t>
    </dgm:pt>
    <dgm:pt modelId="{13CFB81D-0D81-4E25-A1DD-F6B5A7C160F8}" type="pres">
      <dgm:prSet presAssocID="{80D9B1C1-0188-472C-9AFD-3A9F56B8FE9D}" presName="linear" presStyleCnt="0">
        <dgm:presLayoutVars>
          <dgm:animLvl val="lvl"/>
          <dgm:resizeHandles val="exact"/>
        </dgm:presLayoutVars>
      </dgm:prSet>
      <dgm:spPr/>
    </dgm:pt>
    <dgm:pt modelId="{8E1CDC54-08AB-48FE-9510-8AAEE84064FD}" type="pres">
      <dgm:prSet presAssocID="{8B849A1E-9418-4879-B713-CEB3FB73243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7366EC2-133C-4CC1-981C-0A6D26395BA0}" type="pres">
      <dgm:prSet presAssocID="{ADEAF26D-A343-436D-9994-28893D173712}" presName="spacer" presStyleCnt="0"/>
      <dgm:spPr/>
    </dgm:pt>
    <dgm:pt modelId="{E4BFA4E8-9C86-45DF-9011-A8FF13A897BE}" type="pres">
      <dgm:prSet presAssocID="{F02934D0-1317-4845-AA9C-73E3E43BCF3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334D9FA-A75E-4184-80C5-B16877A1272B}" type="pres">
      <dgm:prSet presAssocID="{C9CA91FB-9D26-495A-9462-406B4B7A21F6}" presName="spacer" presStyleCnt="0"/>
      <dgm:spPr/>
    </dgm:pt>
    <dgm:pt modelId="{7F0437F6-9970-411D-8325-C00F26DCDD6E}" type="pres">
      <dgm:prSet presAssocID="{CAB95C73-46DC-4AB0-8337-365782592B8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CD27DA6-2D74-4B7B-997D-C9A5EE68BF24}" type="pres">
      <dgm:prSet presAssocID="{B4822EB8-AAF6-4693-BBBC-1F2FFC0B6035}" presName="spacer" presStyleCnt="0"/>
      <dgm:spPr/>
    </dgm:pt>
    <dgm:pt modelId="{2FCA1394-6657-4328-8F86-7BB5A5276265}" type="pres">
      <dgm:prSet presAssocID="{50B85EC0-ABCE-44F8-B773-6DA0BCBB486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D776C8F-A890-4B3E-9F27-79D25C96B4F9}" type="pres">
      <dgm:prSet presAssocID="{DF8E950D-E86A-46A6-B952-466F80B2D45F}" presName="spacer" presStyleCnt="0"/>
      <dgm:spPr/>
    </dgm:pt>
    <dgm:pt modelId="{49B6CC65-6FAB-41D8-8A63-FF4FD28A9883}" type="pres">
      <dgm:prSet presAssocID="{F6207853-8172-4A06-935F-F008B5DBEC9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F22D232-514A-4B9E-BBB8-5B35BE4DB0D8}" type="presOf" srcId="{CAB95C73-46DC-4AB0-8337-365782592B84}" destId="{7F0437F6-9970-411D-8325-C00F26DCDD6E}" srcOrd="0" destOrd="0" presId="urn:microsoft.com/office/officeart/2005/8/layout/vList2"/>
    <dgm:cxn modelId="{FF49E968-7FE4-44D9-B795-BE09AC2D6588}" srcId="{80D9B1C1-0188-472C-9AFD-3A9F56B8FE9D}" destId="{50B85EC0-ABCE-44F8-B773-6DA0BCBB4861}" srcOrd="3" destOrd="0" parTransId="{1015E0CA-D636-4AB9-B794-4D93484019E5}" sibTransId="{DF8E950D-E86A-46A6-B952-466F80B2D45F}"/>
    <dgm:cxn modelId="{EA540057-EE6E-4EE5-8E92-93DA6FFC44A2}" type="presOf" srcId="{50B85EC0-ABCE-44F8-B773-6DA0BCBB4861}" destId="{2FCA1394-6657-4328-8F86-7BB5A5276265}" srcOrd="0" destOrd="0" presId="urn:microsoft.com/office/officeart/2005/8/layout/vList2"/>
    <dgm:cxn modelId="{84A3C257-C3FD-4ACD-B917-B6802F521EB0}" type="presOf" srcId="{F6207853-8172-4A06-935F-F008B5DBEC94}" destId="{49B6CC65-6FAB-41D8-8A63-FF4FD28A9883}" srcOrd="0" destOrd="0" presId="urn:microsoft.com/office/officeart/2005/8/layout/vList2"/>
    <dgm:cxn modelId="{61E19059-DB39-4E9A-8938-D81F5CF5F6C7}" type="presOf" srcId="{F02934D0-1317-4845-AA9C-73E3E43BCF30}" destId="{E4BFA4E8-9C86-45DF-9011-A8FF13A897BE}" srcOrd="0" destOrd="0" presId="urn:microsoft.com/office/officeart/2005/8/layout/vList2"/>
    <dgm:cxn modelId="{AD417780-8217-48F2-A19B-EE341DAA7AF2}" type="presOf" srcId="{80D9B1C1-0188-472C-9AFD-3A9F56B8FE9D}" destId="{13CFB81D-0D81-4E25-A1DD-F6B5A7C160F8}" srcOrd="0" destOrd="0" presId="urn:microsoft.com/office/officeart/2005/8/layout/vList2"/>
    <dgm:cxn modelId="{20B06C99-EE79-4FF7-B458-E9A1F0E779CA}" srcId="{80D9B1C1-0188-472C-9AFD-3A9F56B8FE9D}" destId="{F02934D0-1317-4845-AA9C-73E3E43BCF30}" srcOrd="1" destOrd="0" parTransId="{53C9665D-3150-4D7D-A30A-0D7800C52D80}" sibTransId="{C9CA91FB-9D26-495A-9462-406B4B7A21F6}"/>
    <dgm:cxn modelId="{2D70CDAB-56F2-438A-B379-A7AA276E0B82}" type="presOf" srcId="{8B849A1E-9418-4879-B713-CEB3FB732434}" destId="{8E1CDC54-08AB-48FE-9510-8AAEE84064FD}" srcOrd="0" destOrd="0" presId="urn:microsoft.com/office/officeart/2005/8/layout/vList2"/>
    <dgm:cxn modelId="{76EC75C5-CC27-415F-91C7-B6FA1561289F}" srcId="{80D9B1C1-0188-472C-9AFD-3A9F56B8FE9D}" destId="{8B849A1E-9418-4879-B713-CEB3FB732434}" srcOrd="0" destOrd="0" parTransId="{946A67AA-8730-4B30-B733-1F980D567F4C}" sibTransId="{ADEAF26D-A343-436D-9994-28893D173712}"/>
    <dgm:cxn modelId="{67CA0CD2-F42D-4B1A-99C9-3D8F8F2F29E5}" srcId="{80D9B1C1-0188-472C-9AFD-3A9F56B8FE9D}" destId="{F6207853-8172-4A06-935F-F008B5DBEC94}" srcOrd="4" destOrd="0" parTransId="{158A922F-9F1B-4F79-BB87-3869B8981B96}" sibTransId="{91FFEDBD-BF7A-4444-8ACB-217899070C24}"/>
    <dgm:cxn modelId="{D42816E8-7950-49C5-A225-54205E5F3910}" srcId="{80D9B1C1-0188-472C-9AFD-3A9F56B8FE9D}" destId="{CAB95C73-46DC-4AB0-8337-365782592B84}" srcOrd="2" destOrd="0" parTransId="{46BD04DB-68BF-4A8B-B21C-6A0F814FBDD2}" sibTransId="{B4822EB8-AAF6-4693-BBBC-1F2FFC0B6035}"/>
    <dgm:cxn modelId="{967778D6-3992-4B5F-8257-2CDCD6F38702}" type="presParOf" srcId="{13CFB81D-0D81-4E25-A1DD-F6B5A7C160F8}" destId="{8E1CDC54-08AB-48FE-9510-8AAEE84064FD}" srcOrd="0" destOrd="0" presId="urn:microsoft.com/office/officeart/2005/8/layout/vList2"/>
    <dgm:cxn modelId="{E4A3B71B-3B14-49E6-84C2-3EBA66055BF0}" type="presParOf" srcId="{13CFB81D-0D81-4E25-A1DD-F6B5A7C160F8}" destId="{B7366EC2-133C-4CC1-981C-0A6D26395BA0}" srcOrd="1" destOrd="0" presId="urn:microsoft.com/office/officeart/2005/8/layout/vList2"/>
    <dgm:cxn modelId="{914A0824-F8EA-4354-8AEE-DEF5554A6C8D}" type="presParOf" srcId="{13CFB81D-0D81-4E25-A1DD-F6B5A7C160F8}" destId="{E4BFA4E8-9C86-45DF-9011-A8FF13A897BE}" srcOrd="2" destOrd="0" presId="urn:microsoft.com/office/officeart/2005/8/layout/vList2"/>
    <dgm:cxn modelId="{23F8CFD0-561A-4610-96E9-14E3862A6AEB}" type="presParOf" srcId="{13CFB81D-0D81-4E25-A1DD-F6B5A7C160F8}" destId="{6334D9FA-A75E-4184-80C5-B16877A1272B}" srcOrd="3" destOrd="0" presId="urn:microsoft.com/office/officeart/2005/8/layout/vList2"/>
    <dgm:cxn modelId="{F513427B-3CD7-469D-848A-B4CC6D31A940}" type="presParOf" srcId="{13CFB81D-0D81-4E25-A1DD-F6B5A7C160F8}" destId="{7F0437F6-9970-411D-8325-C00F26DCDD6E}" srcOrd="4" destOrd="0" presId="urn:microsoft.com/office/officeart/2005/8/layout/vList2"/>
    <dgm:cxn modelId="{B1E618C8-308C-4C94-BBF0-894FB2181D6A}" type="presParOf" srcId="{13CFB81D-0D81-4E25-A1DD-F6B5A7C160F8}" destId="{DCD27DA6-2D74-4B7B-997D-C9A5EE68BF24}" srcOrd="5" destOrd="0" presId="urn:microsoft.com/office/officeart/2005/8/layout/vList2"/>
    <dgm:cxn modelId="{EC7484C1-9B2A-4CB3-8B78-4C67F6DC679E}" type="presParOf" srcId="{13CFB81D-0D81-4E25-A1DD-F6B5A7C160F8}" destId="{2FCA1394-6657-4328-8F86-7BB5A5276265}" srcOrd="6" destOrd="0" presId="urn:microsoft.com/office/officeart/2005/8/layout/vList2"/>
    <dgm:cxn modelId="{DBB16387-7B67-4B37-924E-A2A4EDFA73B2}" type="presParOf" srcId="{13CFB81D-0D81-4E25-A1DD-F6B5A7C160F8}" destId="{DD776C8F-A890-4B3E-9F27-79D25C96B4F9}" srcOrd="7" destOrd="0" presId="urn:microsoft.com/office/officeart/2005/8/layout/vList2"/>
    <dgm:cxn modelId="{4FD53A0E-6F03-41B0-A2B1-998D8F2502C5}" type="presParOf" srcId="{13CFB81D-0D81-4E25-A1DD-F6B5A7C160F8}" destId="{49B6CC65-6FAB-41D8-8A63-FF4FD28A988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C27CA6D-668D-4F68-9A26-0D796C83609C}" type="doc">
      <dgm:prSet loTypeId="urn:microsoft.com/office/officeart/2005/8/layout/vList2" loCatId="list" qsTypeId="urn:microsoft.com/office/officeart/2005/8/quickstyle/simple1#61" qsCatId="simple" csTypeId="urn:microsoft.com/office/officeart/2005/8/colors/accent1_2#49" csCatId="accent1" phldr="1"/>
      <dgm:spPr/>
      <dgm:t>
        <a:bodyPr/>
        <a:lstStyle/>
        <a:p>
          <a:endParaRPr lang="en-US"/>
        </a:p>
      </dgm:t>
    </dgm:pt>
    <dgm:pt modelId="{99962227-EFE9-4F32-A32B-38C3A5141AA4}">
      <dgm:prSet/>
      <dgm:spPr/>
      <dgm:t>
        <a:bodyPr/>
        <a:lstStyle/>
        <a:p>
          <a:r>
            <a:rPr lang="uk-UA" b="1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Переваги</a:t>
          </a:r>
          <a:r>
            <a:rPr lang="en-US" b="1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:</a:t>
          </a:r>
          <a:endParaRPr lang="en-US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46FCD728-29C7-44B7-825C-E0E90D8474B4}" type="parTrans" cxnId="{D6DDB871-318E-450A-A09B-9E8CC18B2EAD}">
      <dgm:prSet/>
      <dgm:spPr/>
      <dgm:t>
        <a:bodyPr/>
        <a:lstStyle/>
        <a:p>
          <a:endParaRPr lang="en-US"/>
        </a:p>
      </dgm:t>
    </dgm:pt>
    <dgm:pt modelId="{53ABB965-72E9-4E99-83A2-2CA3E1AAF0A5}" type="sibTrans" cxnId="{D6DDB871-318E-450A-A09B-9E8CC18B2EAD}">
      <dgm:prSet/>
      <dgm:spPr/>
      <dgm:t>
        <a:bodyPr/>
        <a:lstStyle/>
        <a:p>
          <a:endParaRPr lang="en-US"/>
        </a:p>
      </dgm:t>
    </dgm:pt>
    <dgm:pt modelId="{ED33FB15-81F6-433F-BEAC-2613AFD543A7}">
      <dgm:prSet custT="1"/>
      <dgm:spPr/>
      <dgm:t>
        <a:bodyPr/>
        <a:lstStyle/>
        <a:p>
          <a:r>
            <a:rPr lang="uk-UA" sz="24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1. Простий інтерфейс.</a:t>
          </a:r>
          <a:endParaRPr lang="en-US" sz="24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C332BA8F-1AEE-42E2-8A89-D2EA517A4AF0}" type="parTrans" cxnId="{0EF32C91-CC48-4203-A476-2CE0ACF43DBE}">
      <dgm:prSet/>
      <dgm:spPr/>
      <dgm:t>
        <a:bodyPr/>
        <a:lstStyle/>
        <a:p>
          <a:endParaRPr lang="en-US"/>
        </a:p>
      </dgm:t>
    </dgm:pt>
    <dgm:pt modelId="{34B2642A-4080-48BF-B0F8-0798E85C028D}" type="sibTrans" cxnId="{0EF32C91-CC48-4203-A476-2CE0ACF43DBE}">
      <dgm:prSet/>
      <dgm:spPr/>
      <dgm:t>
        <a:bodyPr/>
        <a:lstStyle/>
        <a:p>
          <a:endParaRPr lang="en-US"/>
        </a:p>
      </dgm:t>
    </dgm:pt>
    <dgm:pt modelId="{763C4C8E-BCBA-4F53-87B7-3BCAE1BD4C90}">
      <dgm:prSet custT="1"/>
      <dgm:spPr/>
      <dgm:t>
        <a:bodyPr/>
        <a:lstStyle/>
        <a:p>
          <a:r>
            <a:rPr lang="uk-UA" sz="24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2. Візуальний облік.</a:t>
          </a:r>
          <a:endParaRPr lang="en-US" sz="24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B7D587F5-885C-4F1A-873A-24CF6458B12A}" type="parTrans" cxnId="{DDBCD1D7-4395-4249-9A5A-0EA1F0E9DAF0}">
      <dgm:prSet/>
      <dgm:spPr/>
      <dgm:t>
        <a:bodyPr/>
        <a:lstStyle/>
        <a:p>
          <a:endParaRPr lang="en-US"/>
        </a:p>
      </dgm:t>
    </dgm:pt>
    <dgm:pt modelId="{3F27DB37-3F8E-47CE-918C-CB00D9992AD0}" type="sibTrans" cxnId="{DDBCD1D7-4395-4249-9A5A-0EA1F0E9DAF0}">
      <dgm:prSet/>
      <dgm:spPr/>
      <dgm:t>
        <a:bodyPr/>
        <a:lstStyle/>
        <a:p>
          <a:endParaRPr lang="en-US"/>
        </a:p>
      </dgm:t>
    </dgm:pt>
    <dgm:pt modelId="{C24BD109-AB9C-449F-95D7-C842836CE94D}">
      <dgm:prSet custT="1"/>
      <dgm:spPr/>
      <dgm:t>
        <a:bodyPr/>
        <a:lstStyle/>
        <a:p>
          <a:r>
            <a:rPr lang="uk-UA" sz="24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3. QR та штрихкоди.</a:t>
          </a:r>
          <a:endParaRPr lang="en-US" sz="24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8D329780-942E-41C0-B8BE-818139676293}" type="parTrans" cxnId="{F05D0939-5015-4EC1-97D2-7AD1311DFD9F}">
      <dgm:prSet/>
      <dgm:spPr/>
      <dgm:t>
        <a:bodyPr/>
        <a:lstStyle/>
        <a:p>
          <a:endParaRPr lang="en-US"/>
        </a:p>
      </dgm:t>
    </dgm:pt>
    <dgm:pt modelId="{B824627A-FB1E-4296-8162-B0F4D29BF324}" type="sibTrans" cxnId="{F05D0939-5015-4EC1-97D2-7AD1311DFD9F}">
      <dgm:prSet/>
      <dgm:spPr/>
      <dgm:t>
        <a:bodyPr/>
        <a:lstStyle/>
        <a:p>
          <a:endParaRPr lang="en-US"/>
        </a:p>
      </dgm:t>
    </dgm:pt>
    <dgm:pt modelId="{97EDC144-3F95-4BE2-935E-B2E057A4E4E2}">
      <dgm:prSet custT="1"/>
      <dgm:spPr/>
      <dgm:t>
        <a:bodyPr/>
        <a:lstStyle/>
        <a:p>
          <a:r>
            <a:rPr lang="uk-UA" sz="1800" dirty="0">
              <a:latin typeface="Cavolini" panose="03000502040302020204" pitchFamily="66" charset="0"/>
              <a:cs typeface="Cavolini" panose="03000502040302020204" pitchFamily="66" charset="0"/>
            </a:rPr>
            <a:t>4. </a:t>
          </a:r>
          <a:r>
            <a:rPr lang="uk-UA" sz="2000" dirty="0">
              <a:latin typeface="Cavolini" panose="03000502040302020204" pitchFamily="66" charset="0"/>
              <a:cs typeface="Cavolini" panose="03000502040302020204" pitchFamily="66" charset="0"/>
            </a:rPr>
            <a:t>Контроль мінімальних залишків.</a:t>
          </a:r>
          <a:endParaRPr lang="en-US" sz="1800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34158DC9-2F70-45C7-9BD5-3559D131F3C0}" type="parTrans" cxnId="{BE383A32-897B-4DBC-B202-6C4F10569B60}">
      <dgm:prSet/>
      <dgm:spPr/>
      <dgm:t>
        <a:bodyPr/>
        <a:lstStyle/>
        <a:p>
          <a:endParaRPr lang="en-US"/>
        </a:p>
      </dgm:t>
    </dgm:pt>
    <dgm:pt modelId="{89B8894D-050B-4D89-98E1-6F60030F6A42}" type="sibTrans" cxnId="{BE383A32-897B-4DBC-B202-6C4F10569B60}">
      <dgm:prSet/>
      <dgm:spPr/>
      <dgm:t>
        <a:bodyPr/>
        <a:lstStyle/>
        <a:p>
          <a:endParaRPr lang="en-US"/>
        </a:p>
      </dgm:t>
    </dgm:pt>
    <dgm:pt modelId="{31EAC553-7E8B-4CAF-A7F4-4C9B78FB2BCA}">
      <dgm:prSet custT="1"/>
      <dgm:spPr/>
      <dgm:t>
        <a:bodyPr/>
        <a:lstStyle/>
        <a:p>
          <a:r>
            <a:rPr lang="uk-UA" sz="2400" dirty="0">
              <a:latin typeface="Cavolini" panose="03000502040302020204" pitchFamily="66" charset="0"/>
              <a:cs typeface="Cavolini" panose="03000502040302020204" pitchFamily="66" charset="0"/>
            </a:rPr>
            <a:t>5. Командна робота.</a:t>
          </a:r>
          <a:endParaRPr lang="en-US" sz="2400" dirty="0">
            <a:latin typeface="Cavolini" panose="03000502040302020204" pitchFamily="66" charset="0"/>
            <a:cs typeface="Cavolini" panose="03000502040302020204" pitchFamily="66" charset="0"/>
          </a:endParaRPr>
        </a:p>
      </dgm:t>
    </dgm:pt>
    <dgm:pt modelId="{1C9D5CC7-FF9C-4768-8277-36CC81785AE3}" type="parTrans" cxnId="{EB48A76E-1BEC-428F-B44A-141D0AAABBE7}">
      <dgm:prSet/>
      <dgm:spPr/>
      <dgm:t>
        <a:bodyPr/>
        <a:lstStyle/>
        <a:p>
          <a:endParaRPr lang="en-US"/>
        </a:p>
      </dgm:t>
    </dgm:pt>
    <dgm:pt modelId="{D13E9912-BBC9-40CE-8FBF-2A64CFC4CB5A}" type="sibTrans" cxnId="{EB48A76E-1BEC-428F-B44A-141D0AAABBE7}">
      <dgm:prSet/>
      <dgm:spPr/>
      <dgm:t>
        <a:bodyPr/>
        <a:lstStyle/>
        <a:p>
          <a:endParaRPr lang="en-US"/>
        </a:p>
      </dgm:t>
    </dgm:pt>
    <dgm:pt modelId="{F8D1B04A-FDCA-4A7A-BD62-6724A4668946}" type="pres">
      <dgm:prSet presAssocID="{3C27CA6D-668D-4F68-9A26-0D796C83609C}" presName="linear" presStyleCnt="0">
        <dgm:presLayoutVars>
          <dgm:animLvl val="lvl"/>
          <dgm:resizeHandles val="exact"/>
        </dgm:presLayoutVars>
      </dgm:prSet>
      <dgm:spPr/>
    </dgm:pt>
    <dgm:pt modelId="{190777EA-01A6-420B-870E-A357B06CA63B}" type="pres">
      <dgm:prSet presAssocID="{99962227-EFE9-4F32-A32B-38C3A5141AA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E13E1616-73DD-4DE5-AD52-A047E2339171}" type="pres">
      <dgm:prSet presAssocID="{53ABB965-72E9-4E99-83A2-2CA3E1AAF0A5}" presName="spacer" presStyleCnt="0"/>
      <dgm:spPr/>
    </dgm:pt>
    <dgm:pt modelId="{7B4E724D-04D2-4A87-B641-DD16C98FAD44}" type="pres">
      <dgm:prSet presAssocID="{ED33FB15-81F6-433F-BEAC-2613AFD543A7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63F66AE9-B751-4C13-BEAA-8CDDF55B50C2}" type="pres">
      <dgm:prSet presAssocID="{34B2642A-4080-48BF-B0F8-0798E85C028D}" presName="spacer" presStyleCnt="0"/>
      <dgm:spPr/>
    </dgm:pt>
    <dgm:pt modelId="{118781E1-7F9D-42A1-8369-B5848E4FD94F}" type="pres">
      <dgm:prSet presAssocID="{763C4C8E-BCBA-4F53-87B7-3BCAE1BD4C9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561DE42-1125-4D11-BFF7-1BEE9138B651}" type="pres">
      <dgm:prSet presAssocID="{3F27DB37-3F8E-47CE-918C-CB00D9992AD0}" presName="spacer" presStyleCnt="0"/>
      <dgm:spPr/>
    </dgm:pt>
    <dgm:pt modelId="{51CC8D2F-4C28-4963-B2C9-61F791102EED}" type="pres">
      <dgm:prSet presAssocID="{C24BD109-AB9C-449F-95D7-C842836CE94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8440D3AA-FF9D-4E5D-A518-CA2FE6DE5A5A}" type="pres">
      <dgm:prSet presAssocID="{B824627A-FB1E-4296-8162-B0F4D29BF324}" presName="spacer" presStyleCnt="0"/>
      <dgm:spPr/>
    </dgm:pt>
    <dgm:pt modelId="{7A6E4D1F-2A63-4F48-8290-A7044B13E974}" type="pres">
      <dgm:prSet presAssocID="{97EDC144-3F95-4BE2-935E-B2E057A4E4E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405C402-7264-4564-8A62-E8B62C7DF715}" type="pres">
      <dgm:prSet presAssocID="{89B8894D-050B-4D89-98E1-6F60030F6A42}" presName="spacer" presStyleCnt="0"/>
      <dgm:spPr/>
    </dgm:pt>
    <dgm:pt modelId="{A6558A54-74EB-4DFC-8D3D-32136184F554}" type="pres">
      <dgm:prSet presAssocID="{31EAC553-7E8B-4CAF-A7F4-4C9B78FB2BC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E383A32-897B-4DBC-B202-6C4F10569B60}" srcId="{3C27CA6D-668D-4F68-9A26-0D796C83609C}" destId="{97EDC144-3F95-4BE2-935E-B2E057A4E4E2}" srcOrd="4" destOrd="0" parTransId="{34158DC9-2F70-45C7-9BD5-3559D131F3C0}" sibTransId="{89B8894D-050B-4D89-98E1-6F60030F6A42}"/>
    <dgm:cxn modelId="{22F6EB32-ABA3-4CFB-974D-C0C7826C77C2}" type="presOf" srcId="{ED33FB15-81F6-433F-BEAC-2613AFD543A7}" destId="{7B4E724D-04D2-4A87-B641-DD16C98FAD44}" srcOrd="0" destOrd="0" presId="urn:microsoft.com/office/officeart/2005/8/layout/vList2"/>
    <dgm:cxn modelId="{F05D0939-5015-4EC1-97D2-7AD1311DFD9F}" srcId="{3C27CA6D-668D-4F68-9A26-0D796C83609C}" destId="{C24BD109-AB9C-449F-95D7-C842836CE94D}" srcOrd="3" destOrd="0" parTransId="{8D329780-942E-41C0-B8BE-818139676293}" sibTransId="{B824627A-FB1E-4296-8162-B0F4D29BF324}"/>
    <dgm:cxn modelId="{3D7B8E47-01D2-4C05-A980-9158554EF180}" type="presOf" srcId="{97EDC144-3F95-4BE2-935E-B2E057A4E4E2}" destId="{7A6E4D1F-2A63-4F48-8290-A7044B13E974}" srcOrd="0" destOrd="0" presId="urn:microsoft.com/office/officeart/2005/8/layout/vList2"/>
    <dgm:cxn modelId="{9BB4D649-91AE-492E-833E-CBC3633261E9}" type="presOf" srcId="{763C4C8E-BCBA-4F53-87B7-3BCAE1BD4C90}" destId="{118781E1-7F9D-42A1-8369-B5848E4FD94F}" srcOrd="0" destOrd="0" presId="urn:microsoft.com/office/officeart/2005/8/layout/vList2"/>
    <dgm:cxn modelId="{EB48A76E-1BEC-428F-B44A-141D0AAABBE7}" srcId="{3C27CA6D-668D-4F68-9A26-0D796C83609C}" destId="{31EAC553-7E8B-4CAF-A7F4-4C9B78FB2BCA}" srcOrd="5" destOrd="0" parTransId="{1C9D5CC7-FF9C-4768-8277-36CC81785AE3}" sibTransId="{D13E9912-BBC9-40CE-8FBF-2A64CFC4CB5A}"/>
    <dgm:cxn modelId="{E8872970-1CB1-4996-A322-2276C1050C24}" type="presOf" srcId="{3C27CA6D-668D-4F68-9A26-0D796C83609C}" destId="{F8D1B04A-FDCA-4A7A-BD62-6724A4668946}" srcOrd="0" destOrd="0" presId="urn:microsoft.com/office/officeart/2005/8/layout/vList2"/>
    <dgm:cxn modelId="{D6DDB871-318E-450A-A09B-9E8CC18B2EAD}" srcId="{3C27CA6D-668D-4F68-9A26-0D796C83609C}" destId="{99962227-EFE9-4F32-A32B-38C3A5141AA4}" srcOrd="0" destOrd="0" parTransId="{46FCD728-29C7-44B7-825C-E0E90D8474B4}" sibTransId="{53ABB965-72E9-4E99-83A2-2CA3E1AAF0A5}"/>
    <dgm:cxn modelId="{80FF5179-6D02-4F3B-B611-77229993A8AF}" type="presOf" srcId="{C24BD109-AB9C-449F-95D7-C842836CE94D}" destId="{51CC8D2F-4C28-4963-B2C9-61F791102EED}" srcOrd="0" destOrd="0" presId="urn:microsoft.com/office/officeart/2005/8/layout/vList2"/>
    <dgm:cxn modelId="{1C455785-4C42-4016-9123-C337D858CE1B}" type="presOf" srcId="{99962227-EFE9-4F32-A32B-38C3A5141AA4}" destId="{190777EA-01A6-420B-870E-A357B06CA63B}" srcOrd="0" destOrd="0" presId="urn:microsoft.com/office/officeart/2005/8/layout/vList2"/>
    <dgm:cxn modelId="{6CC80F8E-CC7F-4FAF-990E-D86F2C41FB84}" type="presOf" srcId="{31EAC553-7E8B-4CAF-A7F4-4C9B78FB2BCA}" destId="{A6558A54-74EB-4DFC-8D3D-32136184F554}" srcOrd="0" destOrd="0" presId="urn:microsoft.com/office/officeart/2005/8/layout/vList2"/>
    <dgm:cxn modelId="{0EF32C91-CC48-4203-A476-2CE0ACF43DBE}" srcId="{3C27CA6D-668D-4F68-9A26-0D796C83609C}" destId="{ED33FB15-81F6-433F-BEAC-2613AFD543A7}" srcOrd="1" destOrd="0" parTransId="{C332BA8F-1AEE-42E2-8A89-D2EA517A4AF0}" sibTransId="{34B2642A-4080-48BF-B0F8-0798E85C028D}"/>
    <dgm:cxn modelId="{DDBCD1D7-4395-4249-9A5A-0EA1F0E9DAF0}" srcId="{3C27CA6D-668D-4F68-9A26-0D796C83609C}" destId="{763C4C8E-BCBA-4F53-87B7-3BCAE1BD4C90}" srcOrd="2" destOrd="0" parTransId="{B7D587F5-885C-4F1A-873A-24CF6458B12A}" sibTransId="{3F27DB37-3F8E-47CE-918C-CB00D9992AD0}"/>
    <dgm:cxn modelId="{58EA918D-B14B-4602-8181-D1EA45B38D37}" type="presParOf" srcId="{F8D1B04A-FDCA-4A7A-BD62-6724A4668946}" destId="{190777EA-01A6-420B-870E-A357B06CA63B}" srcOrd="0" destOrd="0" presId="urn:microsoft.com/office/officeart/2005/8/layout/vList2"/>
    <dgm:cxn modelId="{5315BF00-A033-4F0F-BF74-C390CBF05064}" type="presParOf" srcId="{F8D1B04A-FDCA-4A7A-BD62-6724A4668946}" destId="{E13E1616-73DD-4DE5-AD52-A047E2339171}" srcOrd="1" destOrd="0" presId="urn:microsoft.com/office/officeart/2005/8/layout/vList2"/>
    <dgm:cxn modelId="{3C5D0E50-EA03-4AEA-B42C-6FA0B803E599}" type="presParOf" srcId="{F8D1B04A-FDCA-4A7A-BD62-6724A4668946}" destId="{7B4E724D-04D2-4A87-B641-DD16C98FAD44}" srcOrd="2" destOrd="0" presId="urn:microsoft.com/office/officeart/2005/8/layout/vList2"/>
    <dgm:cxn modelId="{B80F63CD-CA91-4D80-8516-C73AA97DE6BD}" type="presParOf" srcId="{F8D1B04A-FDCA-4A7A-BD62-6724A4668946}" destId="{63F66AE9-B751-4C13-BEAA-8CDDF55B50C2}" srcOrd="3" destOrd="0" presId="urn:microsoft.com/office/officeart/2005/8/layout/vList2"/>
    <dgm:cxn modelId="{27E66A0C-9838-4F39-97D7-861429D7D532}" type="presParOf" srcId="{F8D1B04A-FDCA-4A7A-BD62-6724A4668946}" destId="{118781E1-7F9D-42A1-8369-B5848E4FD94F}" srcOrd="4" destOrd="0" presId="urn:microsoft.com/office/officeart/2005/8/layout/vList2"/>
    <dgm:cxn modelId="{E834967D-40CF-497D-9612-6B9F46164FA0}" type="presParOf" srcId="{F8D1B04A-FDCA-4A7A-BD62-6724A4668946}" destId="{A561DE42-1125-4D11-BFF7-1BEE9138B651}" srcOrd="5" destOrd="0" presId="urn:microsoft.com/office/officeart/2005/8/layout/vList2"/>
    <dgm:cxn modelId="{BB078480-B649-4BD1-AEE0-C3003D6F1BE5}" type="presParOf" srcId="{F8D1B04A-FDCA-4A7A-BD62-6724A4668946}" destId="{51CC8D2F-4C28-4963-B2C9-61F791102EED}" srcOrd="6" destOrd="0" presId="urn:microsoft.com/office/officeart/2005/8/layout/vList2"/>
    <dgm:cxn modelId="{23D15D14-C2DF-4028-BC83-31046405559A}" type="presParOf" srcId="{F8D1B04A-FDCA-4A7A-BD62-6724A4668946}" destId="{8440D3AA-FF9D-4E5D-A518-CA2FE6DE5A5A}" srcOrd="7" destOrd="0" presId="urn:microsoft.com/office/officeart/2005/8/layout/vList2"/>
    <dgm:cxn modelId="{9CA924D7-41FB-4638-B0D6-5308E803EF45}" type="presParOf" srcId="{F8D1B04A-FDCA-4A7A-BD62-6724A4668946}" destId="{7A6E4D1F-2A63-4F48-8290-A7044B13E974}" srcOrd="8" destOrd="0" presId="urn:microsoft.com/office/officeart/2005/8/layout/vList2"/>
    <dgm:cxn modelId="{FB560CDE-35A0-4D94-8825-C8FAAAC56473}" type="presParOf" srcId="{F8D1B04A-FDCA-4A7A-BD62-6724A4668946}" destId="{1405C402-7264-4564-8A62-E8B62C7DF715}" srcOrd="9" destOrd="0" presId="urn:microsoft.com/office/officeart/2005/8/layout/vList2"/>
    <dgm:cxn modelId="{2EE0949E-9C3A-42CC-BD8F-79937A5A0A78}" type="presParOf" srcId="{F8D1B04A-FDCA-4A7A-BD62-6724A4668946}" destId="{A6558A54-74EB-4DFC-8D3D-32136184F55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9B7D21-3694-4091-82FF-FE983539C86C}">
      <dsp:nvSpPr>
        <dsp:cNvPr id="0" name=""/>
        <dsp:cNvSpPr/>
      </dsp:nvSpPr>
      <dsp:spPr>
        <a:xfrm>
          <a:off x="0" y="685306"/>
          <a:ext cx="7040522" cy="4779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Актуальні залишки складно контролювати 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23331" y="708637"/>
        <a:ext cx="6993860" cy="431283"/>
      </dsp:txXfrm>
    </dsp:sp>
    <dsp:sp modelId="{2154CDE8-73A5-4F9B-B762-BE2F5A35AFFA}">
      <dsp:nvSpPr>
        <dsp:cNvPr id="0" name=""/>
        <dsp:cNvSpPr/>
      </dsp:nvSpPr>
      <dsp:spPr>
        <a:xfrm>
          <a:off x="0" y="1217971"/>
          <a:ext cx="7040522" cy="4779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Велика кількість ручної роботи 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23331" y="1241302"/>
        <a:ext cx="6993860" cy="431283"/>
      </dsp:txXfrm>
    </dsp:sp>
    <dsp:sp modelId="{7B6A9896-8783-4292-B4A8-13B8ACDF4E1E}">
      <dsp:nvSpPr>
        <dsp:cNvPr id="0" name=""/>
        <dsp:cNvSpPr/>
      </dsp:nvSpPr>
      <dsp:spPr>
        <a:xfrm>
          <a:off x="0" y="1750636"/>
          <a:ext cx="7040522" cy="4779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Високий ризик помилок у даних та накладних 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23331" y="1773967"/>
        <a:ext cx="6993860" cy="431283"/>
      </dsp:txXfrm>
    </dsp:sp>
    <dsp:sp modelId="{6E98689E-CFC6-4DD9-ACEC-99A780910F06}">
      <dsp:nvSpPr>
        <dsp:cNvPr id="0" name=""/>
        <dsp:cNvSpPr/>
      </dsp:nvSpPr>
      <dsp:spPr>
        <a:xfrm>
          <a:off x="0" y="2283301"/>
          <a:ext cx="7040522" cy="4779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Складно відстежувати рух товарів 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23331" y="2306632"/>
        <a:ext cx="6993860" cy="431283"/>
      </dsp:txXfrm>
    </dsp:sp>
    <dsp:sp modelId="{B2CFD69C-BBD2-4573-BC36-E9D5B8AC4790}">
      <dsp:nvSpPr>
        <dsp:cNvPr id="0" name=""/>
        <dsp:cNvSpPr/>
      </dsp:nvSpPr>
      <dsp:spPr>
        <a:xfrm>
          <a:off x="0" y="2815966"/>
          <a:ext cx="7040522" cy="4779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Ризик продажу відсутнього товару 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23331" y="2839297"/>
        <a:ext cx="6993860" cy="431283"/>
      </dsp:txXfrm>
    </dsp:sp>
    <dsp:sp modelId="{BB5E32E7-674C-42EE-9E39-8C9A6734D8C6}">
      <dsp:nvSpPr>
        <dsp:cNvPr id="0" name=""/>
        <dsp:cNvSpPr/>
      </dsp:nvSpPr>
      <dsp:spPr>
        <a:xfrm>
          <a:off x="0" y="3348631"/>
          <a:ext cx="7040522" cy="4779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Немає своєчасного контролю низьких залишків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23331" y="3371962"/>
        <a:ext cx="6993860" cy="4312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1CDC54-08AB-48FE-9510-8AAEE84064FD}">
      <dsp:nvSpPr>
        <dsp:cNvPr id="0" name=""/>
        <dsp:cNvSpPr/>
      </dsp:nvSpPr>
      <dsp:spPr>
        <a:xfrm>
          <a:off x="0" y="87237"/>
          <a:ext cx="5257800" cy="791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1" kern="12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Переваги:</a:t>
          </a:r>
          <a:endParaRPr lang="en-US" sz="1900" b="1" kern="12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8643" y="125880"/>
        <a:ext cx="5180514" cy="714310"/>
      </dsp:txXfrm>
    </dsp:sp>
    <dsp:sp modelId="{E4BFA4E8-9C86-45DF-9011-A8FF13A897BE}">
      <dsp:nvSpPr>
        <dsp:cNvPr id="0" name=""/>
        <dsp:cNvSpPr/>
      </dsp:nvSpPr>
      <dsp:spPr>
        <a:xfrm>
          <a:off x="0" y="933554"/>
          <a:ext cx="5257800" cy="791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1. Дуже широкий функціонал.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8643" y="972197"/>
        <a:ext cx="5180514" cy="714310"/>
      </dsp:txXfrm>
    </dsp:sp>
    <dsp:sp modelId="{7F0437F6-9970-411D-8325-C00F26DCDD6E}">
      <dsp:nvSpPr>
        <dsp:cNvPr id="0" name=""/>
        <dsp:cNvSpPr/>
      </dsp:nvSpPr>
      <dsp:spPr>
        <a:xfrm>
          <a:off x="0" y="1779870"/>
          <a:ext cx="5257800" cy="791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2. Детальний складський облік.</a:t>
          </a: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8643" y="1818513"/>
        <a:ext cx="5180514" cy="714310"/>
      </dsp:txXfrm>
    </dsp:sp>
    <dsp:sp modelId="{2FCA1394-6657-4328-8F86-7BB5A5276265}">
      <dsp:nvSpPr>
        <dsp:cNvPr id="0" name=""/>
        <dsp:cNvSpPr/>
      </dsp:nvSpPr>
      <dsp:spPr>
        <a:xfrm>
          <a:off x="0" y="2626187"/>
          <a:ext cx="5257800" cy="791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3. Орієнтація на український бізнес.</a:t>
          </a:r>
        </a:p>
      </dsp:txBody>
      <dsp:txXfrm>
        <a:off x="38643" y="2664830"/>
        <a:ext cx="5180514" cy="714310"/>
      </dsp:txXfrm>
    </dsp:sp>
    <dsp:sp modelId="{49B6CC65-6FAB-41D8-8A63-FF4FD28A9883}">
      <dsp:nvSpPr>
        <dsp:cNvPr id="0" name=""/>
        <dsp:cNvSpPr/>
      </dsp:nvSpPr>
      <dsp:spPr>
        <a:xfrm>
          <a:off x="0" y="3472503"/>
          <a:ext cx="5257800" cy="79159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  <a:t>4. Масштабованість.</a:t>
          </a:r>
          <a:br>
            <a:rPr lang="uk-UA" sz="1900" kern="1200" dirty="0">
              <a:latin typeface="Cavolini" panose="03000502040302020204" pitchFamily="66" charset="0"/>
              <a:cs typeface="Cavolini" panose="03000502040302020204" pitchFamily="66" charset="0"/>
            </a:rPr>
          </a:br>
          <a:endParaRPr lang="en-US" sz="19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8643" y="3511146"/>
        <a:ext cx="5180514" cy="714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0777EA-01A6-420B-870E-A357B06CA63B}">
      <dsp:nvSpPr>
        <dsp:cNvPr id="0" name=""/>
        <dsp:cNvSpPr/>
      </dsp:nvSpPr>
      <dsp:spPr>
        <a:xfrm>
          <a:off x="0" y="109044"/>
          <a:ext cx="5334830" cy="628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1" kern="12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Переваги</a:t>
          </a:r>
          <a:r>
            <a:rPr lang="en-US" sz="2500" b="1" kern="12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:</a:t>
          </a:r>
          <a:endParaRPr lang="en-US" sz="2500" kern="12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0699" y="139743"/>
        <a:ext cx="5273432" cy="567477"/>
      </dsp:txXfrm>
    </dsp:sp>
    <dsp:sp modelId="{7B4E724D-04D2-4A87-B641-DD16C98FAD44}">
      <dsp:nvSpPr>
        <dsp:cNvPr id="0" name=""/>
        <dsp:cNvSpPr/>
      </dsp:nvSpPr>
      <dsp:spPr>
        <a:xfrm>
          <a:off x="0" y="809919"/>
          <a:ext cx="5334830" cy="628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1. Простий інтерфейс.</a:t>
          </a:r>
          <a:endParaRPr lang="en-US" sz="2400" kern="12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0699" y="840618"/>
        <a:ext cx="5273432" cy="567477"/>
      </dsp:txXfrm>
    </dsp:sp>
    <dsp:sp modelId="{118781E1-7F9D-42A1-8369-B5848E4FD94F}">
      <dsp:nvSpPr>
        <dsp:cNvPr id="0" name=""/>
        <dsp:cNvSpPr/>
      </dsp:nvSpPr>
      <dsp:spPr>
        <a:xfrm>
          <a:off x="0" y="1510794"/>
          <a:ext cx="5334830" cy="628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2. Візуальний облік.</a:t>
          </a:r>
          <a:endParaRPr lang="en-US" sz="2400" kern="12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0699" y="1541493"/>
        <a:ext cx="5273432" cy="567477"/>
      </dsp:txXfrm>
    </dsp:sp>
    <dsp:sp modelId="{51CC8D2F-4C28-4963-B2C9-61F791102EED}">
      <dsp:nvSpPr>
        <dsp:cNvPr id="0" name=""/>
        <dsp:cNvSpPr/>
      </dsp:nvSpPr>
      <dsp:spPr>
        <a:xfrm>
          <a:off x="0" y="2211669"/>
          <a:ext cx="5334830" cy="628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rPr>
            <a:t>3. QR та штрихкоди.</a:t>
          </a:r>
          <a:endParaRPr lang="en-US" sz="2400" kern="1200" dirty="0">
            <a:solidFill>
              <a:srgbClr val="E8EBED"/>
            </a:solidFill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0699" y="2242368"/>
        <a:ext cx="5273432" cy="567477"/>
      </dsp:txXfrm>
    </dsp:sp>
    <dsp:sp modelId="{7A6E4D1F-2A63-4F48-8290-A7044B13E974}">
      <dsp:nvSpPr>
        <dsp:cNvPr id="0" name=""/>
        <dsp:cNvSpPr/>
      </dsp:nvSpPr>
      <dsp:spPr>
        <a:xfrm>
          <a:off x="0" y="2912544"/>
          <a:ext cx="5334830" cy="628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800" kern="1200" dirty="0">
              <a:latin typeface="Cavolini" panose="03000502040302020204" pitchFamily="66" charset="0"/>
              <a:cs typeface="Cavolini" panose="03000502040302020204" pitchFamily="66" charset="0"/>
            </a:rPr>
            <a:t>4. </a:t>
          </a:r>
          <a:r>
            <a:rPr lang="uk-UA" sz="2000" kern="1200" dirty="0">
              <a:latin typeface="Cavolini" panose="03000502040302020204" pitchFamily="66" charset="0"/>
              <a:cs typeface="Cavolini" panose="03000502040302020204" pitchFamily="66" charset="0"/>
            </a:rPr>
            <a:t>Контроль мінімальних залишків.</a:t>
          </a:r>
          <a:endParaRPr lang="en-US" sz="18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0699" y="2943243"/>
        <a:ext cx="5273432" cy="567477"/>
      </dsp:txXfrm>
    </dsp:sp>
    <dsp:sp modelId="{A6558A54-74EB-4DFC-8D3D-32136184F554}">
      <dsp:nvSpPr>
        <dsp:cNvPr id="0" name=""/>
        <dsp:cNvSpPr/>
      </dsp:nvSpPr>
      <dsp:spPr>
        <a:xfrm>
          <a:off x="0" y="3613419"/>
          <a:ext cx="5334830" cy="628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400" kern="1200" dirty="0">
              <a:latin typeface="Cavolini" panose="03000502040302020204" pitchFamily="66" charset="0"/>
              <a:cs typeface="Cavolini" panose="03000502040302020204" pitchFamily="66" charset="0"/>
            </a:rPr>
            <a:t>5. Командна робота.</a:t>
          </a:r>
          <a:endParaRPr lang="en-US" sz="2400" kern="1200" dirty="0">
            <a:latin typeface="Cavolini" panose="03000502040302020204" pitchFamily="66" charset="0"/>
            <a:cs typeface="Cavolini" panose="03000502040302020204" pitchFamily="66" charset="0"/>
          </a:endParaRPr>
        </a:p>
      </dsp:txBody>
      <dsp:txXfrm>
        <a:off x="30699" y="3644118"/>
        <a:ext cx="5273432" cy="567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2BEB6-71DF-4DD0-A545-056470BA93C4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70FBD-9570-4869-95E7-DF90C0AA49AA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9468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B3B504-B4C6-6617-7B38-5E0F39CEC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F5B34A30-6D18-466C-E1F7-7356F239F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CF15AA7-27B6-A363-9ACA-C5DBBE4F2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1597DB0-7416-87BE-FB74-DA7B0DC9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0B7294B-F0BC-1596-29AF-6781BB54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0110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2BC08D-3615-7EAA-DD89-1204DCA3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A2A3987-684A-028A-5676-D179E3BC1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1E3BCEE-4E82-CD1B-B08F-FC87F1557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06DB9A2-35D5-32E8-CCD1-D025A1362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043EE36-8196-E17D-8D6F-2DD3397C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592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E4C2A-503C-5057-811A-DFBE276F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AD75C61-6E8A-D291-D13D-56D6CAD02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7CCB8DD-9113-E456-EC29-1CFE7DB7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D161AC4-421A-BC2A-96BB-06796F0C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E1EF0E8-CB0F-0DE3-B93B-E8BDA3516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74613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455A5-C5CF-4194-17AA-D1DD50B0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5646362-61C1-9350-6747-FF5E4560C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AD7A1CB-DB01-3A85-0D48-B35A24B17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4719CB3-F522-198D-B802-00C981917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73FDBAE-F36E-C700-ADC2-02632BD53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3BC7CF0-753D-BF8D-51E2-1083FACA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318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5E5AF-FBB7-A8BC-E445-DEE7F406F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312464C-9C3C-C020-A19C-9ADDB4B3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39CB68F-5870-7E40-EB77-1511AE6FC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2332C9F-583F-501F-D8DC-57BBDDF77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E837DAF-F62C-E9FD-77A2-FA2448027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533CCDFD-482A-B503-3270-7C00A0673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DF20F58-15A9-8333-3211-7BF81702E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57924E5-6D0D-56CC-E3EA-D23E75EB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84385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5AA23-6BDD-1EC8-1E51-B9F81F69B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27C1915-610D-2473-078D-38F4C3034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93E593E-C5FA-1864-0DF3-64413222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564B87E-9CDF-6475-851C-368A0893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0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D56AC78E-ED43-3C77-1D43-4D046405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A0534421-8A1E-B4B7-C410-A80C4E77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99FEB29-F989-B32B-D966-6EA494A22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6496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F14B79-4F61-B73B-CEED-09BB2E76C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587E23B-91B9-E564-2A4B-0E6CC3567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551125A-6EBE-B5B5-8D01-FB3F60DEC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8CD4027-7CF3-B90C-3D7B-DFD2AE14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8F4F445-A690-F3CF-BCD4-4DB85773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E338422-EF66-1E29-D0FA-B18EBE45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269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C3B1D-46D8-B5A4-0EDE-DEA5BBBE7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A35BD17C-00E3-D33E-4C8A-1E76D4E0EB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0B11A50-BD2C-04B4-2509-993E65007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497AA6F-B83C-DE5E-1560-964B5856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4B9B5F87-D95D-F517-F311-19275284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7EE1DA6-231E-7BA3-AD41-2398762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815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B6F17C-BEED-4A5B-BAFE-9E105ED03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1FFA93F-6902-EB4B-FDAC-DE1F58DF9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20A20E3-E736-0D17-FD2E-3C5C8447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AB3BDB-0153-383D-B6AB-106FA16A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17706EB-9E3F-793F-8D02-4679A2E60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71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22E2F10-957B-A5EA-AC73-3B952FB221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6632268-B06B-C503-4FDB-9CB731855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AF12B-552F-3C0F-3CD2-EE1BDF04B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615C237-3494-0BA8-7E0B-C7A8CBFE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BBAACFB-B795-5331-AC9A-75F8993A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399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89638DEE-4337-E3E5-68C0-05799911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BFF64A9-E410-3BA1-328A-BFF5907AF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2DBBFBE-D834-217B-BFFB-33A06C400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B9847-18FF-4F87-BDCE-DE506A98BBC1}" type="datetimeFigureOut">
              <a:rPr lang="uk-UA" smtClean="0"/>
              <a:t>17.09.2026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C7ED4A8-8E0A-E3F4-19CD-208D2A4DCE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B017573-2D0F-09AF-C34F-AB3B8C75F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0C6CC-CF5E-4E77-84A8-372334F70B32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13570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SemYanyshyn/StockFlow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F1E8B-DB28-D3D1-6CC3-ED0D816A7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9625" y="762110"/>
            <a:ext cx="5204489" cy="1116414"/>
          </a:xfrm>
        </p:spPr>
        <p:txBody>
          <a:bodyPr>
            <a:normAutofit/>
          </a:bodyPr>
          <a:lstStyle/>
          <a:p>
            <a:r>
              <a:rPr lang="en-US" sz="5400" b="1" dirty="0" err="1">
                <a:ln w="38100"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StockFlow</a:t>
            </a:r>
            <a:endParaRPr lang="uk-UA" sz="5400" b="1" dirty="0">
              <a:ln w="38100">
                <a:solidFill>
                  <a:schemeClr val="bg1"/>
                </a:solidFill>
              </a:ln>
              <a:solidFill>
                <a:srgbClr val="E8EBE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F106F42-CA0B-F58A-9A72-8FB841236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7057" y="2771472"/>
            <a:ext cx="5056007" cy="2864454"/>
          </a:xfrm>
        </p:spPr>
        <p:txBody>
          <a:bodyPr>
            <a:normAutofit fontScale="92500" lnSpcReduction="10000"/>
          </a:bodyPr>
          <a:lstStyle/>
          <a:p>
            <a:r>
              <a:rPr lang="uk-UA" sz="28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Десктопний</a:t>
            </a:r>
            <a:r>
              <a:rPr lang="uk-UA" sz="28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застосунок для автоматизації складського обліку невеликого інтернет-магазину (товари, категорії, залишки, накладні, постачальники).</a:t>
            </a:r>
          </a:p>
        </p:txBody>
      </p:sp>
      <p:sp>
        <p:nvSpPr>
          <p:cNvPr id="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7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22847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28DD5-A027-2717-4161-41E45C5B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uk-UA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Наша </a:t>
            </a:r>
            <a:br>
              <a:rPr lang="uk-UA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uk-UA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команда:</a:t>
            </a:r>
          </a:p>
        </p:txBody>
      </p:sp>
      <p:grpSp>
        <p:nvGrpSpPr>
          <p:cNvPr id="9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7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FD081D0-DF98-C9A0-6B5A-13801C3F5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190" y="2014766"/>
            <a:ext cx="4974771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uk-UA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Янишин</a:t>
            </a: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Семен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Тарабій Олександра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Козловська Тетяна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uk-UA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Демус</a:t>
            </a: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Мар’ян</a:t>
            </a:r>
          </a:p>
        </p:txBody>
      </p:sp>
    </p:spTree>
    <p:extLst>
      <p:ext uri="{BB962C8B-B14F-4D97-AF65-F5344CB8AC3E}">
        <p14:creationId xmlns:p14="http://schemas.microsoft.com/office/powerpoint/2010/main" val="31320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6423F-C7C0-2BF6-C35D-C56C6A9C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95" y="410639"/>
            <a:ext cx="8119694" cy="1325563"/>
          </a:xfrm>
        </p:spPr>
        <p:txBody>
          <a:bodyPr>
            <a:normAutofit/>
          </a:bodyPr>
          <a:lstStyle/>
          <a:p>
            <a:r>
              <a:rPr lang="uk-UA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Аналіз</a:t>
            </a:r>
            <a:r>
              <a:rPr lang="uk-UA" sz="48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проблеми:</a:t>
            </a:r>
          </a:p>
        </p:txBody>
      </p:sp>
      <p:graphicFrame>
        <p:nvGraphicFramePr>
          <p:cNvPr id="21" name="Місце для вмісту 2">
            <a:extLst>
              <a:ext uri="{FF2B5EF4-FFF2-40B4-BE49-F238E27FC236}">
                <a16:creationId xmlns:a16="http://schemas.microsoft.com/office/drawing/2014/main" id="{85503306-E212-B9AD-B8B6-965A12ABA8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112048"/>
              </p:ext>
            </p:extLst>
          </p:nvPr>
        </p:nvGraphicFramePr>
        <p:xfrm>
          <a:off x="212148" y="2021821"/>
          <a:ext cx="7040522" cy="4511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548B919-B295-2868-4FE3-F5150A312F77}"/>
              </a:ext>
            </a:extLst>
          </p:cNvPr>
          <p:cNvSpPr txBox="1"/>
          <p:nvPr/>
        </p:nvSpPr>
        <p:spPr>
          <a:xfrm>
            <a:off x="6286849" y="658930"/>
            <a:ext cx="54095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uk-UA" sz="2800" b="1" u="sng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Основна проблема: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1820FE-7549-9875-3C45-61793A7045CB}"/>
              </a:ext>
            </a:extLst>
          </p:cNvPr>
          <p:cNvSpPr txBox="1"/>
          <p:nvPr/>
        </p:nvSpPr>
        <p:spPr>
          <a:xfrm>
            <a:off x="7709072" y="1274537"/>
            <a:ext cx="37777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Відсутність актуального та надійного контролю складських залишків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CFE802-2C92-3793-3701-C90D6F57B733}"/>
              </a:ext>
            </a:extLst>
          </p:cNvPr>
          <p:cNvSpPr txBox="1"/>
          <p:nvPr/>
        </p:nvSpPr>
        <p:spPr>
          <a:xfrm>
            <a:off x="7709072" y="3180220"/>
            <a:ext cx="3863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Створити </a:t>
            </a:r>
            <a:r>
              <a:rPr lang="uk-UA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десктопну</a:t>
            </a: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систему складського обліку з базою товарів і категорій, обліком залишків, постачальників, надходжень та списань. Система також може автоматично попереджати про низький рівень запасів.</a:t>
            </a:r>
          </a:p>
          <a:p>
            <a:endParaRPr lang="uk-UA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E176D7-EB36-9291-5EAF-CFED970CA4DE}"/>
              </a:ext>
            </a:extLst>
          </p:cNvPr>
          <p:cNvSpPr txBox="1"/>
          <p:nvPr/>
        </p:nvSpPr>
        <p:spPr>
          <a:xfrm>
            <a:off x="7709072" y="2541275"/>
            <a:ext cx="386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u="sng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Рішення: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A463A-61ED-0F87-6B0B-825146013F4C}"/>
              </a:ext>
            </a:extLst>
          </p:cNvPr>
          <p:cNvSpPr txBox="1"/>
          <p:nvPr/>
        </p:nvSpPr>
        <p:spPr>
          <a:xfrm>
            <a:off x="212148" y="1967034"/>
            <a:ext cx="62954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u="sng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Додаткові проблеми:</a:t>
            </a:r>
          </a:p>
        </p:txBody>
      </p:sp>
    </p:spTree>
    <p:extLst>
      <p:ext uri="{BB962C8B-B14F-4D97-AF65-F5344CB8AC3E}">
        <p14:creationId xmlns:p14="http://schemas.microsoft.com/office/powerpoint/2010/main" val="182196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EDDC0-8574-7277-2435-67596F6E3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uk-UA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Цільові користувачі:</a:t>
            </a:r>
          </a:p>
        </p:txBody>
      </p:sp>
      <p:grpSp>
        <p:nvGrpSpPr>
          <p:cNvPr id="17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F810797-CFC5-AB48-9CEE-334923B1F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адміністратори, </a:t>
            </a:r>
            <a:endParaRPr lang="en-US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менеджери та працівники складу невеликого інтернет-магазину, </a:t>
            </a:r>
            <a:endParaRPr lang="en-US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його власник </a:t>
            </a:r>
            <a:endParaRPr lang="en-US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керівник, який потребує контролю складських операцій та залишків товарів.</a:t>
            </a:r>
          </a:p>
        </p:txBody>
      </p:sp>
    </p:spTree>
    <p:extLst>
      <p:ext uri="{BB962C8B-B14F-4D97-AF65-F5344CB8AC3E}">
        <p14:creationId xmlns:p14="http://schemas.microsoft.com/office/powerpoint/2010/main" val="2237730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C431FB-ECD7-476F-1EA0-A6F922020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uk-UA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Мета проєкту:</a:t>
            </a:r>
          </a:p>
        </p:txBody>
      </p:sp>
      <p:grpSp>
        <p:nvGrpSpPr>
          <p:cNvPr id="17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4121F3F-ADE2-99CA-D5CF-1C46E0F34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sz="2200" b="1" dirty="0">
                <a:solidFill>
                  <a:srgbClr val="E8EBED"/>
                </a:solidFill>
                <a:effectLst/>
                <a:latin typeface="Cavolini" panose="03000502040302020204" pitchFamily="66" charset="0"/>
                <a:cs typeface="Cavolini" panose="03000502040302020204" pitchFamily="66" charset="0"/>
              </a:rPr>
              <a:t>Метою проєкту </a:t>
            </a:r>
            <a:r>
              <a:rPr lang="uk-UA" sz="2200" dirty="0">
                <a:solidFill>
                  <a:srgbClr val="E8EBED"/>
                </a:solidFill>
                <a:effectLst/>
                <a:latin typeface="Cavolini" panose="03000502040302020204" pitchFamily="66" charset="0"/>
                <a:cs typeface="Cavolini" panose="03000502040302020204" pitchFamily="66" charset="0"/>
              </a:rPr>
              <a:t>є розробка </a:t>
            </a:r>
            <a:r>
              <a:rPr lang="uk-UA" sz="2200" dirty="0" err="1">
                <a:solidFill>
                  <a:srgbClr val="E8EBED"/>
                </a:solidFill>
                <a:effectLst/>
                <a:latin typeface="Cavolini" panose="03000502040302020204" pitchFamily="66" charset="0"/>
                <a:cs typeface="Cavolini" panose="03000502040302020204" pitchFamily="66" charset="0"/>
              </a:rPr>
              <a:t>десктопної</a:t>
            </a:r>
            <a:r>
              <a:rPr lang="uk-UA" sz="2200" dirty="0">
                <a:solidFill>
                  <a:srgbClr val="E8EBED"/>
                </a:solidFill>
                <a:effectLst/>
                <a:latin typeface="Cavolini" panose="03000502040302020204" pitchFamily="66" charset="0"/>
                <a:cs typeface="Cavolini" panose="03000502040302020204" pitchFamily="66" charset="0"/>
              </a:rPr>
              <a:t> інформаційної системи для автоматизації складського обліку невеликого інтернет-магазину, що забезпечить зручне ведення даних про товари, категорії, постачальників, складські залишки та рух товарів, а також зменшить кількість помилок при виконанні складських операцій.</a:t>
            </a:r>
            <a:endParaRPr lang="uk-UA" sz="22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56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Місце для вмісту 2">
            <a:extLst>
              <a:ext uri="{FF2B5EF4-FFF2-40B4-BE49-F238E27FC236}">
                <a16:creationId xmlns:a16="http://schemas.microsoft.com/office/drawing/2014/main" id="{7BED356E-9E3A-ECF3-09EB-2E28E62AA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065001"/>
              </p:ext>
            </p:extLst>
          </p:nvPr>
        </p:nvGraphicFramePr>
        <p:xfrm>
          <a:off x="838200" y="1825625"/>
          <a:ext cx="5257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867B2EA-76B6-D062-0302-B9CF4FF31251}"/>
              </a:ext>
            </a:extLst>
          </p:cNvPr>
          <p:cNvSpPr txBox="1"/>
          <p:nvPr/>
        </p:nvSpPr>
        <p:spPr>
          <a:xfrm>
            <a:off x="21579" y="624995"/>
            <a:ext cx="62374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BAS </a:t>
            </a:r>
            <a:r>
              <a:rPr lang="uk-UA" sz="4400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малий бізнес:</a:t>
            </a:r>
            <a:endParaRPr lang="uk-UA" sz="4400" dirty="0">
              <a:solidFill>
                <a:srgbClr val="E8EBE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A3FEDB-8D22-113D-76CC-BF31636D811C}"/>
              </a:ext>
            </a:extLst>
          </p:cNvPr>
          <p:cNvSpPr txBox="1"/>
          <p:nvPr/>
        </p:nvSpPr>
        <p:spPr>
          <a:xfrm>
            <a:off x="8622891" y="456558"/>
            <a:ext cx="3569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400" b="1" u="sng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Аналіз ринку:</a:t>
            </a: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EFC11AA2-576E-B9A9-6C8E-4AC56DA60401}"/>
              </a:ext>
            </a:extLst>
          </p:cNvPr>
          <p:cNvGrpSpPr/>
          <p:nvPr/>
        </p:nvGrpSpPr>
        <p:grpSpPr>
          <a:xfrm>
            <a:off x="6622934" y="1947584"/>
            <a:ext cx="5257800" cy="798525"/>
            <a:chOff x="0" y="64156"/>
            <a:chExt cx="5257800" cy="798525"/>
          </a:xfrm>
        </p:grpSpPr>
        <p:sp>
          <p:nvSpPr>
            <p:cNvPr id="43" name="Прямокутник: округлені кути 42">
              <a:extLst>
                <a:ext uri="{FF2B5EF4-FFF2-40B4-BE49-F238E27FC236}">
                  <a16:creationId xmlns:a16="http://schemas.microsoft.com/office/drawing/2014/main" id="{C6A48C58-E56E-2451-28BA-D5F42F9DE595}"/>
                </a:ext>
              </a:extLst>
            </p:cNvPr>
            <p:cNvSpPr/>
            <p:nvPr/>
          </p:nvSpPr>
          <p:spPr>
            <a:xfrm>
              <a:off x="0" y="64156"/>
              <a:ext cx="5257800" cy="798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44" name="Прямокутник: округлені кути 4">
              <a:extLst>
                <a:ext uri="{FF2B5EF4-FFF2-40B4-BE49-F238E27FC236}">
                  <a16:creationId xmlns:a16="http://schemas.microsoft.com/office/drawing/2014/main" id="{2E8098FC-C15E-8F38-5DE4-2F8A3FEC45C5}"/>
                </a:ext>
              </a:extLst>
            </p:cNvPr>
            <p:cNvSpPr txBox="1"/>
            <p:nvPr/>
          </p:nvSpPr>
          <p:spPr>
            <a:xfrm>
              <a:off x="38981" y="103137"/>
              <a:ext cx="5179838" cy="720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b="1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Недоліки: </a:t>
              </a:r>
            </a:p>
          </p:txBody>
        </p:sp>
      </p:grpSp>
      <p:grpSp>
        <p:nvGrpSpPr>
          <p:cNvPr id="31" name="Групувати 30">
            <a:extLst>
              <a:ext uri="{FF2B5EF4-FFF2-40B4-BE49-F238E27FC236}">
                <a16:creationId xmlns:a16="http://schemas.microsoft.com/office/drawing/2014/main" id="{23E163FE-8057-8313-21BF-CC737EBEA518}"/>
              </a:ext>
            </a:extLst>
          </p:cNvPr>
          <p:cNvGrpSpPr/>
          <p:nvPr/>
        </p:nvGrpSpPr>
        <p:grpSpPr>
          <a:xfrm>
            <a:off x="6622934" y="2803709"/>
            <a:ext cx="5257800" cy="798525"/>
            <a:chOff x="0" y="920281"/>
            <a:chExt cx="5257800" cy="798525"/>
          </a:xfrm>
        </p:grpSpPr>
        <p:sp>
          <p:nvSpPr>
            <p:cNvPr id="41" name="Прямокутник: округлені кути 40">
              <a:extLst>
                <a:ext uri="{FF2B5EF4-FFF2-40B4-BE49-F238E27FC236}">
                  <a16:creationId xmlns:a16="http://schemas.microsoft.com/office/drawing/2014/main" id="{5202B324-9F56-B344-5F09-C11150492AC2}"/>
                </a:ext>
              </a:extLst>
            </p:cNvPr>
            <p:cNvSpPr/>
            <p:nvPr/>
          </p:nvSpPr>
          <p:spPr>
            <a:xfrm>
              <a:off x="0" y="920281"/>
              <a:ext cx="5257800" cy="798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42" name="Прямокутник: округлені кути 6">
              <a:extLst>
                <a:ext uri="{FF2B5EF4-FFF2-40B4-BE49-F238E27FC236}">
                  <a16:creationId xmlns:a16="http://schemas.microsoft.com/office/drawing/2014/main" id="{BCE530C4-332C-37C3-7FA4-CAABEB97EDFE}"/>
                </a:ext>
              </a:extLst>
            </p:cNvPr>
            <p:cNvSpPr txBox="1"/>
            <p:nvPr/>
          </p:nvSpPr>
          <p:spPr>
            <a:xfrm>
              <a:off x="38981" y="959262"/>
              <a:ext cx="5179838" cy="720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1. Надлишковий функціонал.</a:t>
              </a:r>
              <a:endParaRPr lang="en-US" sz="2000" dirty="0"/>
            </a:p>
          </p:txBody>
        </p:sp>
      </p:grpSp>
      <p:grpSp>
        <p:nvGrpSpPr>
          <p:cNvPr id="32" name="Групувати 31">
            <a:extLst>
              <a:ext uri="{FF2B5EF4-FFF2-40B4-BE49-F238E27FC236}">
                <a16:creationId xmlns:a16="http://schemas.microsoft.com/office/drawing/2014/main" id="{DCC627C8-933F-9BC7-CB39-52C72CE7B27F}"/>
              </a:ext>
            </a:extLst>
          </p:cNvPr>
          <p:cNvGrpSpPr/>
          <p:nvPr/>
        </p:nvGrpSpPr>
        <p:grpSpPr>
          <a:xfrm>
            <a:off x="6622934" y="3659834"/>
            <a:ext cx="5257800" cy="798525"/>
            <a:chOff x="0" y="1776406"/>
            <a:chExt cx="5257800" cy="798525"/>
          </a:xfrm>
        </p:grpSpPr>
        <p:sp>
          <p:nvSpPr>
            <p:cNvPr id="39" name="Прямокутник: округлені кути 38">
              <a:extLst>
                <a:ext uri="{FF2B5EF4-FFF2-40B4-BE49-F238E27FC236}">
                  <a16:creationId xmlns:a16="http://schemas.microsoft.com/office/drawing/2014/main" id="{38399329-B484-9BC1-0E07-886D49498267}"/>
                </a:ext>
              </a:extLst>
            </p:cNvPr>
            <p:cNvSpPr/>
            <p:nvPr/>
          </p:nvSpPr>
          <p:spPr>
            <a:xfrm>
              <a:off x="0" y="1776406"/>
              <a:ext cx="5257800" cy="798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40" name="Прямокутник: округлені кути 8">
              <a:extLst>
                <a:ext uri="{FF2B5EF4-FFF2-40B4-BE49-F238E27FC236}">
                  <a16:creationId xmlns:a16="http://schemas.microsoft.com/office/drawing/2014/main" id="{214F4534-ED72-8700-B001-5293CFFE5A46}"/>
                </a:ext>
              </a:extLst>
            </p:cNvPr>
            <p:cNvSpPr txBox="1"/>
            <p:nvPr/>
          </p:nvSpPr>
          <p:spPr>
            <a:xfrm>
              <a:off x="38981" y="1815387"/>
              <a:ext cx="5179838" cy="720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2. Вища складність освоєння.</a:t>
              </a:r>
              <a:endParaRPr lang="en-US" sz="2000" kern="1200" dirty="0"/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51D66396-8CE6-A843-1829-725DEC49ACD7}"/>
              </a:ext>
            </a:extLst>
          </p:cNvPr>
          <p:cNvGrpSpPr/>
          <p:nvPr/>
        </p:nvGrpSpPr>
        <p:grpSpPr>
          <a:xfrm>
            <a:off x="6622934" y="4515959"/>
            <a:ext cx="5257800" cy="798525"/>
            <a:chOff x="0" y="2632531"/>
            <a:chExt cx="5257800" cy="798525"/>
          </a:xfrm>
        </p:grpSpPr>
        <p:sp>
          <p:nvSpPr>
            <p:cNvPr id="37" name="Прямокутник: округлені кути 36">
              <a:extLst>
                <a:ext uri="{FF2B5EF4-FFF2-40B4-BE49-F238E27FC236}">
                  <a16:creationId xmlns:a16="http://schemas.microsoft.com/office/drawing/2014/main" id="{898AF742-4ABC-18D2-3FC1-F730111469B1}"/>
                </a:ext>
              </a:extLst>
            </p:cNvPr>
            <p:cNvSpPr/>
            <p:nvPr/>
          </p:nvSpPr>
          <p:spPr>
            <a:xfrm>
              <a:off x="0" y="2632531"/>
              <a:ext cx="5257800" cy="798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38" name="Прямокутник: округлені кути 10">
              <a:extLst>
                <a:ext uri="{FF2B5EF4-FFF2-40B4-BE49-F238E27FC236}">
                  <a16:creationId xmlns:a16="http://schemas.microsoft.com/office/drawing/2014/main" id="{9FDAAFE3-66ED-3521-3FBC-4E8974EF13E1}"/>
                </a:ext>
              </a:extLst>
            </p:cNvPr>
            <p:cNvSpPr txBox="1"/>
            <p:nvPr/>
          </p:nvSpPr>
          <p:spPr>
            <a:xfrm>
              <a:off x="38981" y="2671512"/>
              <a:ext cx="5179838" cy="720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lvl="0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3. Менше фокусу саме на простоті.</a:t>
              </a:r>
              <a:b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</a:br>
              <a:endParaRPr lang="uk-UA" sz="2000" kern="1200" dirty="0"/>
            </a:p>
          </p:txBody>
        </p:sp>
      </p:grpSp>
      <p:grpSp>
        <p:nvGrpSpPr>
          <p:cNvPr id="34" name="Групувати 33">
            <a:extLst>
              <a:ext uri="{FF2B5EF4-FFF2-40B4-BE49-F238E27FC236}">
                <a16:creationId xmlns:a16="http://schemas.microsoft.com/office/drawing/2014/main" id="{A8AD3C28-BABC-68C5-DFB8-9A2C126245A9}"/>
              </a:ext>
            </a:extLst>
          </p:cNvPr>
          <p:cNvGrpSpPr/>
          <p:nvPr/>
        </p:nvGrpSpPr>
        <p:grpSpPr>
          <a:xfrm>
            <a:off x="6622934" y="5372084"/>
            <a:ext cx="5257800" cy="798525"/>
            <a:chOff x="0" y="3488656"/>
            <a:chExt cx="5257800" cy="798525"/>
          </a:xfrm>
        </p:grpSpPr>
        <p:sp>
          <p:nvSpPr>
            <p:cNvPr id="35" name="Прямокутник: округлені кути 34">
              <a:extLst>
                <a:ext uri="{FF2B5EF4-FFF2-40B4-BE49-F238E27FC236}">
                  <a16:creationId xmlns:a16="http://schemas.microsoft.com/office/drawing/2014/main" id="{DC533EAC-D78C-FBBD-679E-AD7D0F6E621B}"/>
                </a:ext>
              </a:extLst>
            </p:cNvPr>
            <p:cNvSpPr/>
            <p:nvPr/>
          </p:nvSpPr>
          <p:spPr>
            <a:xfrm>
              <a:off x="0" y="3488656"/>
              <a:ext cx="5257800" cy="79852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36" name="Прямокутник: округлені кути 12">
              <a:extLst>
                <a:ext uri="{FF2B5EF4-FFF2-40B4-BE49-F238E27FC236}">
                  <a16:creationId xmlns:a16="http://schemas.microsoft.com/office/drawing/2014/main" id="{258EEC58-2BAF-35EB-65BE-8610B28B9525}"/>
                </a:ext>
              </a:extLst>
            </p:cNvPr>
            <p:cNvSpPr txBox="1"/>
            <p:nvPr/>
          </p:nvSpPr>
          <p:spPr>
            <a:xfrm>
              <a:off x="38981" y="3527637"/>
              <a:ext cx="5179838" cy="7205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4. Обмеження базової версії.</a:t>
              </a:r>
              <a:br>
                <a:rPr lang="uk-UA" sz="2000" kern="1200" dirty="0"/>
              </a:br>
              <a:endParaRPr lang="en-US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26148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65F1E8-308F-D480-8D16-12DD04D1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34760" cy="1325563"/>
          </a:xfrm>
        </p:spPr>
        <p:txBody>
          <a:bodyPr/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ZOHO inventory</a:t>
            </a:r>
            <a:r>
              <a:rPr lang="uk-UA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:</a:t>
            </a:r>
            <a:endParaRPr lang="uk-UA" dirty="0">
              <a:solidFill>
                <a:srgbClr val="E8EBE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3F36F5D-D935-F392-F92E-2A3903F13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393242" y="1874728"/>
            <a:ext cx="527008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uk-UA" b="1" dirty="0">
                <a:solidFill>
                  <a:srgbClr val="FF000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Переваги</a:t>
            </a:r>
            <a:r>
              <a:rPr lang="uk-UA" dirty="0">
                <a:solidFill>
                  <a:srgbClr val="FF000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:</a:t>
            </a:r>
            <a:br>
              <a:rPr lang="en-US" dirty="0">
                <a:solidFill>
                  <a:srgbClr val="FF000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uk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71083-9E53-E572-AA1F-44C92776BD4B}"/>
              </a:ext>
            </a:extLst>
          </p:cNvPr>
          <p:cNvSpPr txBox="1"/>
          <p:nvPr/>
        </p:nvSpPr>
        <p:spPr>
          <a:xfrm>
            <a:off x="12192000" y="2076928"/>
            <a:ext cx="4425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uk-UA" sz="2800" dirty="0">
                <a:solidFill>
                  <a:srgbClr val="FF000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.</a:t>
            </a:r>
          </a:p>
        </p:txBody>
      </p:sp>
      <p:grpSp>
        <p:nvGrpSpPr>
          <p:cNvPr id="30" name="Групувати 29">
            <a:extLst>
              <a:ext uri="{FF2B5EF4-FFF2-40B4-BE49-F238E27FC236}">
                <a16:creationId xmlns:a16="http://schemas.microsoft.com/office/drawing/2014/main" id="{BDCC00F2-0021-48F9-373E-1902B0835467}"/>
              </a:ext>
            </a:extLst>
          </p:cNvPr>
          <p:cNvGrpSpPr/>
          <p:nvPr/>
        </p:nvGrpSpPr>
        <p:grpSpPr>
          <a:xfrm>
            <a:off x="838200" y="1807933"/>
            <a:ext cx="5257800" cy="791596"/>
            <a:chOff x="0" y="87237"/>
            <a:chExt cx="5257800" cy="791596"/>
          </a:xfrm>
        </p:grpSpPr>
        <p:sp>
          <p:nvSpPr>
            <p:cNvPr id="43" name="Прямокутник: округлені кути 42">
              <a:extLst>
                <a:ext uri="{FF2B5EF4-FFF2-40B4-BE49-F238E27FC236}">
                  <a16:creationId xmlns:a16="http://schemas.microsoft.com/office/drawing/2014/main" id="{638F0E43-BF92-4939-57F0-6B123355EA8E}"/>
                </a:ext>
              </a:extLst>
            </p:cNvPr>
            <p:cNvSpPr/>
            <p:nvPr/>
          </p:nvSpPr>
          <p:spPr>
            <a:xfrm>
              <a:off x="0" y="87237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44" name="Прямокутник: округлені кути 4">
              <a:extLst>
                <a:ext uri="{FF2B5EF4-FFF2-40B4-BE49-F238E27FC236}">
                  <a16:creationId xmlns:a16="http://schemas.microsoft.com/office/drawing/2014/main" id="{B782E8C9-0A2A-0BA7-E85B-F17830DE697B}"/>
                </a:ext>
              </a:extLst>
            </p:cNvPr>
            <p:cNvSpPr txBox="1"/>
            <p:nvPr/>
          </p:nvSpPr>
          <p:spPr>
            <a:xfrm>
              <a:off x="38643" y="125880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uk-UA" sz="1900" b="1" kern="12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Переваги:</a:t>
              </a:r>
              <a:endParaRPr lang="en-US" sz="1900" b="1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grpSp>
        <p:nvGrpSpPr>
          <p:cNvPr id="31" name="Групувати 30">
            <a:extLst>
              <a:ext uri="{FF2B5EF4-FFF2-40B4-BE49-F238E27FC236}">
                <a16:creationId xmlns:a16="http://schemas.microsoft.com/office/drawing/2014/main" id="{E1A8CDE6-FA11-5B57-739D-B23B5A2E6119}"/>
              </a:ext>
            </a:extLst>
          </p:cNvPr>
          <p:cNvGrpSpPr/>
          <p:nvPr/>
        </p:nvGrpSpPr>
        <p:grpSpPr>
          <a:xfrm>
            <a:off x="838200" y="2654250"/>
            <a:ext cx="5257800" cy="791596"/>
            <a:chOff x="0" y="933554"/>
            <a:chExt cx="5257800" cy="791596"/>
          </a:xfrm>
        </p:grpSpPr>
        <p:sp>
          <p:nvSpPr>
            <p:cNvPr id="41" name="Прямокутник: округлені кути 40">
              <a:extLst>
                <a:ext uri="{FF2B5EF4-FFF2-40B4-BE49-F238E27FC236}">
                  <a16:creationId xmlns:a16="http://schemas.microsoft.com/office/drawing/2014/main" id="{235158D3-F5A3-05EA-227A-536B322E384B}"/>
                </a:ext>
              </a:extLst>
            </p:cNvPr>
            <p:cNvSpPr/>
            <p:nvPr/>
          </p:nvSpPr>
          <p:spPr>
            <a:xfrm>
              <a:off x="0" y="933554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42" name="Прямокутник: округлені кути 6">
              <a:extLst>
                <a:ext uri="{FF2B5EF4-FFF2-40B4-BE49-F238E27FC236}">
                  <a16:creationId xmlns:a16="http://schemas.microsoft.com/office/drawing/2014/main" id="{9296345F-CC99-8A3C-0962-1EE0554BC48C}"/>
                </a:ext>
              </a:extLst>
            </p:cNvPr>
            <p:cNvSpPr txBox="1"/>
            <p:nvPr/>
          </p:nvSpPr>
          <p:spPr>
            <a:xfrm>
              <a:off x="38643" y="972197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1. Добре орієнтований на інтернет-торгівлю.</a:t>
              </a:r>
            </a:p>
          </p:txBody>
        </p:sp>
      </p:grpSp>
      <p:grpSp>
        <p:nvGrpSpPr>
          <p:cNvPr id="32" name="Групувати 31">
            <a:extLst>
              <a:ext uri="{FF2B5EF4-FFF2-40B4-BE49-F238E27FC236}">
                <a16:creationId xmlns:a16="http://schemas.microsoft.com/office/drawing/2014/main" id="{F359C2A2-F724-D086-3D00-195D0B4E403F}"/>
              </a:ext>
            </a:extLst>
          </p:cNvPr>
          <p:cNvGrpSpPr/>
          <p:nvPr/>
        </p:nvGrpSpPr>
        <p:grpSpPr>
          <a:xfrm>
            <a:off x="838200" y="3500566"/>
            <a:ext cx="5257800" cy="791596"/>
            <a:chOff x="0" y="1779870"/>
            <a:chExt cx="5257800" cy="791596"/>
          </a:xfrm>
        </p:grpSpPr>
        <p:sp>
          <p:nvSpPr>
            <p:cNvPr id="39" name="Прямокутник: округлені кути 38">
              <a:extLst>
                <a:ext uri="{FF2B5EF4-FFF2-40B4-BE49-F238E27FC236}">
                  <a16:creationId xmlns:a16="http://schemas.microsoft.com/office/drawing/2014/main" id="{5E870E7D-E09E-C225-2D49-E8B240F7F5BE}"/>
                </a:ext>
              </a:extLst>
            </p:cNvPr>
            <p:cNvSpPr/>
            <p:nvPr/>
          </p:nvSpPr>
          <p:spPr>
            <a:xfrm>
              <a:off x="0" y="1779870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40" name="Прямокутник: округлені кути 8">
              <a:extLst>
                <a:ext uri="{FF2B5EF4-FFF2-40B4-BE49-F238E27FC236}">
                  <a16:creationId xmlns:a16="http://schemas.microsoft.com/office/drawing/2014/main" id="{8AC82B26-4139-D144-7972-EEB796E3ED75}"/>
                </a:ext>
              </a:extLst>
            </p:cNvPr>
            <p:cNvSpPr txBox="1"/>
            <p:nvPr/>
          </p:nvSpPr>
          <p:spPr>
            <a:xfrm>
              <a:off x="38643" y="1818513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2. Хмарна система.</a:t>
              </a:r>
            </a:p>
          </p:txBody>
        </p:sp>
      </p:grpSp>
      <p:grpSp>
        <p:nvGrpSpPr>
          <p:cNvPr id="33" name="Групувати 32">
            <a:extLst>
              <a:ext uri="{FF2B5EF4-FFF2-40B4-BE49-F238E27FC236}">
                <a16:creationId xmlns:a16="http://schemas.microsoft.com/office/drawing/2014/main" id="{10ECC7EE-142F-2362-4C22-B9BD04ABA781}"/>
              </a:ext>
            </a:extLst>
          </p:cNvPr>
          <p:cNvGrpSpPr/>
          <p:nvPr/>
        </p:nvGrpSpPr>
        <p:grpSpPr>
          <a:xfrm>
            <a:off x="838200" y="4346883"/>
            <a:ext cx="5257800" cy="791596"/>
            <a:chOff x="0" y="2626187"/>
            <a:chExt cx="5257800" cy="791596"/>
          </a:xfrm>
        </p:grpSpPr>
        <p:sp>
          <p:nvSpPr>
            <p:cNvPr id="37" name="Прямокутник: округлені кути 36">
              <a:extLst>
                <a:ext uri="{FF2B5EF4-FFF2-40B4-BE49-F238E27FC236}">
                  <a16:creationId xmlns:a16="http://schemas.microsoft.com/office/drawing/2014/main" id="{BB03EA90-E1C2-9038-0101-6002A35FA174}"/>
                </a:ext>
              </a:extLst>
            </p:cNvPr>
            <p:cNvSpPr/>
            <p:nvPr/>
          </p:nvSpPr>
          <p:spPr>
            <a:xfrm>
              <a:off x="0" y="2626187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38" name="Прямокутник: округлені кути 10">
              <a:extLst>
                <a:ext uri="{FF2B5EF4-FFF2-40B4-BE49-F238E27FC236}">
                  <a16:creationId xmlns:a16="http://schemas.microsoft.com/office/drawing/2014/main" id="{5E91AC8D-5C7D-4556-067A-E3AA6954EC3B}"/>
                </a:ext>
              </a:extLst>
            </p:cNvPr>
            <p:cNvSpPr txBox="1"/>
            <p:nvPr/>
          </p:nvSpPr>
          <p:spPr>
            <a:xfrm>
              <a:off x="38643" y="2664830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3. Масштабованість.</a:t>
              </a:r>
            </a:p>
          </p:txBody>
        </p:sp>
      </p:grpSp>
      <p:grpSp>
        <p:nvGrpSpPr>
          <p:cNvPr id="34" name="Групувати 33">
            <a:extLst>
              <a:ext uri="{FF2B5EF4-FFF2-40B4-BE49-F238E27FC236}">
                <a16:creationId xmlns:a16="http://schemas.microsoft.com/office/drawing/2014/main" id="{2F38098C-D5BD-7694-6CED-E07EA6ECD46E}"/>
              </a:ext>
            </a:extLst>
          </p:cNvPr>
          <p:cNvGrpSpPr/>
          <p:nvPr/>
        </p:nvGrpSpPr>
        <p:grpSpPr>
          <a:xfrm>
            <a:off x="838200" y="5193199"/>
            <a:ext cx="5257800" cy="791596"/>
            <a:chOff x="0" y="3472503"/>
            <a:chExt cx="5257800" cy="791596"/>
          </a:xfrm>
        </p:grpSpPr>
        <p:sp>
          <p:nvSpPr>
            <p:cNvPr id="35" name="Прямокутник: округлені кути 34">
              <a:extLst>
                <a:ext uri="{FF2B5EF4-FFF2-40B4-BE49-F238E27FC236}">
                  <a16:creationId xmlns:a16="http://schemas.microsoft.com/office/drawing/2014/main" id="{F0ABD095-A401-9A84-26F5-9C9F8972A9F6}"/>
                </a:ext>
              </a:extLst>
            </p:cNvPr>
            <p:cNvSpPr/>
            <p:nvPr/>
          </p:nvSpPr>
          <p:spPr>
            <a:xfrm>
              <a:off x="0" y="3472503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36" name="Прямокутник: округлені кути 12">
              <a:extLst>
                <a:ext uri="{FF2B5EF4-FFF2-40B4-BE49-F238E27FC236}">
                  <a16:creationId xmlns:a16="http://schemas.microsoft.com/office/drawing/2014/main" id="{84645502-40DF-1F79-D77F-E63704CBA8C3}"/>
                </a:ext>
              </a:extLst>
            </p:cNvPr>
            <p:cNvSpPr txBox="1"/>
            <p:nvPr/>
          </p:nvSpPr>
          <p:spPr>
            <a:xfrm>
              <a:off x="38643" y="3511146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4. Інтеграції.</a:t>
              </a:r>
            </a:p>
          </p:txBody>
        </p:sp>
      </p:grpSp>
      <p:grpSp>
        <p:nvGrpSpPr>
          <p:cNvPr id="45" name="Групувати 44">
            <a:extLst>
              <a:ext uri="{FF2B5EF4-FFF2-40B4-BE49-F238E27FC236}">
                <a16:creationId xmlns:a16="http://schemas.microsoft.com/office/drawing/2014/main" id="{238AF5DF-7245-7E43-9FD6-DA42048785C6}"/>
              </a:ext>
            </a:extLst>
          </p:cNvPr>
          <p:cNvGrpSpPr/>
          <p:nvPr/>
        </p:nvGrpSpPr>
        <p:grpSpPr>
          <a:xfrm>
            <a:off x="6718300" y="1769290"/>
            <a:ext cx="5257800" cy="791596"/>
            <a:chOff x="0" y="87237"/>
            <a:chExt cx="5257800" cy="791596"/>
          </a:xfrm>
        </p:grpSpPr>
        <p:sp>
          <p:nvSpPr>
            <p:cNvPr id="58" name="Прямокутник: округлені кути 57">
              <a:extLst>
                <a:ext uri="{FF2B5EF4-FFF2-40B4-BE49-F238E27FC236}">
                  <a16:creationId xmlns:a16="http://schemas.microsoft.com/office/drawing/2014/main" id="{6FA3F1B3-BE92-8FEF-1BC6-783E0917126E}"/>
                </a:ext>
              </a:extLst>
            </p:cNvPr>
            <p:cNvSpPr/>
            <p:nvPr/>
          </p:nvSpPr>
          <p:spPr>
            <a:xfrm>
              <a:off x="0" y="87237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59" name="Прямокутник: округлені кути 4">
              <a:extLst>
                <a:ext uri="{FF2B5EF4-FFF2-40B4-BE49-F238E27FC236}">
                  <a16:creationId xmlns:a16="http://schemas.microsoft.com/office/drawing/2014/main" id="{78F94E26-61A8-F26A-8388-636BF02CF43F}"/>
                </a:ext>
              </a:extLst>
            </p:cNvPr>
            <p:cNvSpPr txBox="1"/>
            <p:nvPr/>
          </p:nvSpPr>
          <p:spPr>
            <a:xfrm>
              <a:off x="38643" y="125880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b="1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Недоліки</a:t>
              </a:r>
              <a:r>
                <a:rPr lang="en-US" sz="2000" b="1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:</a:t>
              </a:r>
              <a:endParaRPr lang="uk-UA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grpSp>
        <p:nvGrpSpPr>
          <p:cNvPr id="46" name="Групувати 45">
            <a:extLst>
              <a:ext uri="{FF2B5EF4-FFF2-40B4-BE49-F238E27FC236}">
                <a16:creationId xmlns:a16="http://schemas.microsoft.com/office/drawing/2014/main" id="{56F1D3C2-5CA6-964B-82B7-D69C9C88322B}"/>
              </a:ext>
            </a:extLst>
          </p:cNvPr>
          <p:cNvGrpSpPr/>
          <p:nvPr/>
        </p:nvGrpSpPr>
        <p:grpSpPr>
          <a:xfrm>
            <a:off x="6718300" y="2615607"/>
            <a:ext cx="5257800" cy="791596"/>
            <a:chOff x="0" y="933554"/>
            <a:chExt cx="5257800" cy="791596"/>
          </a:xfrm>
        </p:grpSpPr>
        <p:sp>
          <p:nvSpPr>
            <p:cNvPr id="56" name="Прямокутник: округлені кути 55">
              <a:extLst>
                <a:ext uri="{FF2B5EF4-FFF2-40B4-BE49-F238E27FC236}">
                  <a16:creationId xmlns:a16="http://schemas.microsoft.com/office/drawing/2014/main" id="{7509CD8A-A456-9C91-476B-F16E12852033}"/>
                </a:ext>
              </a:extLst>
            </p:cNvPr>
            <p:cNvSpPr/>
            <p:nvPr/>
          </p:nvSpPr>
          <p:spPr>
            <a:xfrm>
              <a:off x="0" y="933554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57" name="Прямокутник: округлені кути 6">
              <a:extLst>
                <a:ext uri="{FF2B5EF4-FFF2-40B4-BE49-F238E27FC236}">
                  <a16:creationId xmlns:a16="http://schemas.microsoft.com/office/drawing/2014/main" id="{2FF76C9C-689A-9965-02B8-CA83644D8A4D}"/>
                </a:ext>
              </a:extLst>
            </p:cNvPr>
            <p:cNvSpPr txBox="1"/>
            <p:nvPr/>
          </p:nvSpPr>
          <p:spPr>
            <a:xfrm>
              <a:off x="38643" y="972197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1. Залежність від інтернету.</a:t>
              </a:r>
            </a:p>
          </p:txBody>
        </p:sp>
      </p:grpSp>
      <p:grpSp>
        <p:nvGrpSpPr>
          <p:cNvPr id="47" name="Групувати 46">
            <a:extLst>
              <a:ext uri="{FF2B5EF4-FFF2-40B4-BE49-F238E27FC236}">
                <a16:creationId xmlns:a16="http://schemas.microsoft.com/office/drawing/2014/main" id="{FC61397B-69DF-1EB5-5049-06D7A93CC93B}"/>
              </a:ext>
            </a:extLst>
          </p:cNvPr>
          <p:cNvGrpSpPr/>
          <p:nvPr/>
        </p:nvGrpSpPr>
        <p:grpSpPr>
          <a:xfrm>
            <a:off x="6718300" y="3461923"/>
            <a:ext cx="5257800" cy="791596"/>
            <a:chOff x="0" y="1779870"/>
            <a:chExt cx="5257800" cy="791596"/>
          </a:xfrm>
        </p:grpSpPr>
        <p:sp>
          <p:nvSpPr>
            <p:cNvPr id="54" name="Прямокутник: округлені кути 53">
              <a:extLst>
                <a:ext uri="{FF2B5EF4-FFF2-40B4-BE49-F238E27FC236}">
                  <a16:creationId xmlns:a16="http://schemas.microsoft.com/office/drawing/2014/main" id="{AA4E68FA-D056-991B-994E-C29B73E95637}"/>
                </a:ext>
              </a:extLst>
            </p:cNvPr>
            <p:cNvSpPr/>
            <p:nvPr/>
          </p:nvSpPr>
          <p:spPr>
            <a:xfrm>
              <a:off x="0" y="1779870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55" name="Прямокутник: округлені кути 8">
              <a:extLst>
                <a:ext uri="{FF2B5EF4-FFF2-40B4-BE49-F238E27FC236}">
                  <a16:creationId xmlns:a16="http://schemas.microsoft.com/office/drawing/2014/main" id="{44351BF2-8710-33D4-00E9-A99F6E08362D}"/>
                </a:ext>
              </a:extLst>
            </p:cNvPr>
            <p:cNvSpPr txBox="1"/>
            <p:nvPr/>
          </p:nvSpPr>
          <p:spPr>
            <a:xfrm>
              <a:off x="38643" y="1818513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2. Підписка. </a:t>
              </a:r>
            </a:p>
          </p:txBody>
        </p:sp>
      </p:grpSp>
      <p:grpSp>
        <p:nvGrpSpPr>
          <p:cNvPr id="48" name="Групувати 47">
            <a:extLst>
              <a:ext uri="{FF2B5EF4-FFF2-40B4-BE49-F238E27FC236}">
                <a16:creationId xmlns:a16="http://schemas.microsoft.com/office/drawing/2014/main" id="{D6C6AB9A-19F6-7131-CC5F-44AEC756C298}"/>
              </a:ext>
            </a:extLst>
          </p:cNvPr>
          <p:cNvGrpSpPr/>
          <p:nvPr/>
        </p:nvGrpSpPr>
        <p:grpSpPr>
          <a:xfrm>
            <a:off x="6718300" y="4308240"/>
            <a:ext cx="5257800" cy="1637912"/>
            <a:chOff x="0" y="2626187"/>
            <a:chExt cx="5257800" cy="791596"/>
          </a:xfrm>
        </p:grpSpPr>
        <p:sp>
          <p:nvSpPr>
            <p:cNvPr id="52" name="Прямокутник: округлені кути 51">
              <a:extLst>
                <a:ext uri="{FF2B5EF4-FFF2-40B4-BE49-F238E27FC236}">
                  <a16:creationId xmlns:a16="http://schemas.microsoft.com/office/drawing/2014/main" id="{F81EE758-0657-9AD4-DD0D-5E22C75E4424}"/>
                </a:ext>
              </a:extLst>
            </p:cNvPr>
            <p:cNvSpPr/>
            <p:nvPr/>
          </p:nvSpPr>
          <p:spPr>
            <a:xfrm>
              <a:off x="0" y="2626187"/>
              <a:ext cx="5257800" cy="791596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53" name="Прямокутник: округлені кути 10">
              <a:extLst>
                <a:ext uri="{FF2B5EF4-FFF2-40B4-BE49-F238E27FC236}">
                  <a16:creationId xmlns:a16="http://schemas.microsoft.com/office/drawing/2014/main" id="{012D2C4B-D3EE-E176-CC64-464093B93A45}"/>
                </a:ext>
              </a:extLst>
            </p:cNvPr>
            <p:cNvSpPr txBox="1"/>
            <p:nvPr/>
          </p:nvSpPr>
          <p:spPr>
            <a:xfrm>
              <a:off x="38643" y="2664830"/>
              <a:ext cx="5180514" cy="7143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lvl="0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3. Надлишковість для дуже маленького магазину</a:t>
              </a:r>
              <a:endParaRPr lang="uk-UA" sz="1900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A199642B-C5F3-41D6-3611-F8BD5A851DC2}"/>
              </a:ext>
            </a:extLst>
          </p:cNvPr>
          <p:cNvSpPr txBox="1"/>
          <p:nvPr/>
        </p:nvSpPr>
        <p:spPr>
          <a:xfrm>
            <a:off x="8714740" y="449548"/>
            <a:ext cx="2639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u="sng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Аналіз ринку:</a:t>
            </a:r>
          </a:p>
        </p:txBody>
      </p:sp>
    </p:spTree>
    <p:extLst>
      <p:ext uri="{BB962C8B-B14F-4D97-AF65-F5344CB8AC3E}">
        <p14:creationId xmlns:p14="http://schemas.microsoft.com/office/powerpoint/2010/main" val="3561667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1CED85-E5F3-8340-FDA0-27FCF8AC1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70" y="431481"/>
            <a:ext cx="4649861" cy="1325563"/>
          </a:xfrm>
        </p:spPr>
        <p:txBody>
          <a:bodyPr/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SORTLY</a:t>
            </a:r>
            <a:r>
              <a:rPr lang="uk-UA" b="1" dirty="0">
                <a:ln>
                  <a:solidFill>
                    <a:schemeClr val="bg1"/>
                  </a:solidFill>
                </a:ln>
                <a:solidFill>
                  <a:srgbClr val="E8EBE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volini" panose="03000502040302020204" pitchFamily="66" charset="0"/>
                <a:cs typeface="Cavolini" panose="03000502040302020204" pitchFamily="66" charset="0"/>
              </a:rPr>
              <a:t>:</a:t>
            </a:r>
            <a:endParaRPr lang="uk-UA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aphicFrame>
        <p:nvGraphicFramePr>
          <p:cNvPr id="15" name="Місце для вмісту 2">
            <a:extLst>
              <a:ext uri="{FF2B5EF4-FFF2-40B4-BE49-F238E27FC236}">
                <a16:creationId xmlns:a16="http://schemas.microsoft.com/office/drawing/2014/main" id="{6126ACDA-B363-7B6B-DEB3-3782BD9343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739843"/>
              </p:ext>
            </p:extLst>
          </p:nvPr>
        </p:nvGraphicFramePr>
        <p:xfrm>
          <a:off x="598610" y="1999651"/>
          <a:ext cx="533483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3847432-5425-0951-B544-8D38695CEAC8}"/>
              </a:ext>
            </a:extLst>
          </p:cNvPr>
          <p:cNvSpPr txBox="1"/>
          <p:nvPr/>
        </p:nvSpPr>
        <p:spPr>
          <a:xfrm>
            <a:off x="9169058" y="1290347"/>
            <a:ext cx="54085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uk-UA" sz="24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pSp>
        <p:nvGrpSpPr>
          <p:cNvPr id="3" name="Групувати 2">
            <a:extLst>
              <a:ext uri="{FF2B5EF4-FFF2-40B4-BE49-F238E27FC236}">
                <a16:creationId xmlns:a16="http://schemas.microsoft.com/office/drawing/2014/main" id="{14D757C6-353E-6E66-CAD7-1EBC9B4A7D91}"/>
              </a:ext>
            </a:extLst>
          </p:cNvPr>
          <p:cNvGrpSpPr/>
          <p:nvPr/>
        </p:nvGrpSpPr>
        <p:grpSpPr>
          <a:xfrm>
            <a:off x="6649524" y="2118028"/>
            <a:ext cx="5334830" cy="628875"/>
            <a:chOff x="0" y="109044"/>
            <a:chExt cx="5334830" cy="628875"/>
          </a:xfrm>
        </p:grpSpPr>
        <p:sp>
          <p:nvSpPr>
            <p:cNvPr id="25" name="Прямокутник: округлені кути 24">
              <a:extLst>
                <a:ext uri="{FF2B5EF4-FFF2-40B4-BE49-F238E27FC236}">
                  <a16:creationId xmlns:a16="http://schemas.microsoft.com/office/drawing/2014/main" id="{C908706D-8C04-34A3-F8AE-AA0D0AADF0CE}"/>
                </a:ext>
              </a:extLst>
            </p:cNvPr>
            <p:cNvSpPr/>
            <p:nvPr/>
          </p:nvSpPr>
          <p:spPr>
            <a:xfrm>
              <a:off x="0" y="109044"/>
              <a:ext cx="5334830" cy="6288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28" name="Прямокутник: округлені кути 4">
              <a:extLst>
                <a:ext uri="{FF2B5EF4-FFF2-40B4-BE49-F238E27FC236}">
                  <a16:creationId xmlns:a16="http://schemas.microsoft.com/office/drawing/2014/main" id="{5CBFB4BD-741D-5BD7-0979-CCC67C953BC7}"/>
                </a:ext>
              </a:extLst>
            </p:cNvPr>
            <p:cNvSpPr txBox="1"/>
            <p:nvPr/>
          </p:nvSpPr>
          <p:spPr>
            <a:xfrm>
              <a:off x="30699" y="139743"/>
              <a:ext cx="5273432" cy="5674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0" lvl="0" indent="0" algn="l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uk-UA" sz="2500" b="1" kern="12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Недоліки</a:t>
              </a:r>
              <a:r>
                <a:rPr lang="en-US" sz="2500" b="1" kern="12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:</a:t>
              </a:r>
              <a:endParaRPr lang="en-US" sz="2500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C16EF01C-A9C6-1EEA-3F97-A14B7871B703}"/>
              </a:ext>
            </a:extLst>
          </p:cNvPr>
          <p:cNvGrpSpPr/>
          <p:nvPr/>
        </p:nvGrpSpPr>
        <p:grpSpPr>
          <a:xfrm>
            <a:off x="6618825" y="2845570"/>
            <a:ext cx="5334830" cy="1878830"/>
            <a:chOff x="0" y="809919"/>
            <a:chExt cx="5334830" cy="628875"/>
          </a:xfrm>
        </p:grpSpPr>
        <p:sp>
          <p:nvSpPr>
            <p:cNvPr id="23" name="Прямокутник: округлені кути 22">
              <a:extLst>
                <a:ext uri="{FF2B5EF4-FFF2-40B4-BE49-F238E27FC236}">
                  <a16:creationId xmlns:a16="http://schemas.microsoft.com/office/drawing/2014/main" id="{9FC1F7C7-C0FB-C5E1-1AF8-7B1CED5A4B24}"/>
                </a:ext>
              </a:extLst>
            </p:cNvPr>
            <p:cNvSpPr/>
            <p:nvPr/>
          </p:nvSpPr>
          <p:spPr>
            <a:xfrm>
              <a:off x="0" y="809919"/>
              <a:ext cx="5334830" cy="6288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24" name="Прямокутник: округлені кути 6">
              <a:extLst>
                <a:ext uri="{FF2B5EF4-FFF2-40B4-BE49-F238E27FC236}">
                  <a16:creationId xmlns:a16="http://schemas.microsoft.com/office/drawing/2014/main" id="{BCBA5DB2-2A93-98A7-2591-B9A0202AC1EA}"/>
                </a:ext>
              </a:extLst>
            </p:cNvPr>
            <p:cNvSpPr txBox="1"/>
            <p:nvPr/>
          </p:nvSpPr>
          <p:spPr>
            <a:xfrm>
              <a:off x="30699" y="840618"/>
              <a:ext cx="5273432" cy="5674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>
                <a:buNone/>
              </a:pPr>
              <a:r>
                <a:rPr lang="uk-UA" sz="2400" kern="12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1.</a:t>
              </a:r>
              <a:r>
                <a:rPr lang="uk-UA" sz="24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 </a:t>
              </a: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Більший акцент на </a:t>
              </a:r>
              <a:r>
                <a:rPr lang="uk-UA" sz="2000" dirty="0" err="1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inventory</a:t>
              </a: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 </a:t>
              </a:r>
              <a:r>
                <a:rPr lang="uk-UA" sz="2000" dirty="0" err="1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tracking</a:t>
              </a: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, ніж на класичному складському документообігу.</a:t>
              </a:r>
            </a:p>
            <a:p>
              <a:pPr>
                <a:buNone/>
              </a:pP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накладна → складська операція → зміна залишку</a:t>
              </a:r>
              <a:endParaRPr lang="en-US" sz="2000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grpSp>
        <p:nvGrpSpPr>
          <p:cNvPr id="5" name="Групувати 4">
            <a:extLst>
              <a:ext uri="{FF2B5EF4-FFF2-40B4-BE49-F238E27FC236}">
                <a16:creationId xmlns:a16="http://schemas.microsoft.com/office/drawing/2014/main" id="{81535100-6E05-F264-EC05-15F64AA18F6A}"/>
              </a:ext>
            </a:extLst>
          </p:cNvPr>
          <p:cNvGrpSpPr/>
          <p:nvPr/>
        </p:nvGrpSpPr>
        <p:grpSpPr>
          <a:xfrm>
            <a:off x="6618825" y="4797426"/>
            <a:ext cx="5334830" cy="589259"/>
            <a:chOff x="0" y="1510795"/>
            <a:chExt cx="5334830" cy="466342"/>
          </a:xfrm>
        </p:grpSpPr>
        <p:sp>
          <p:nvSpPr>
            <p:cNvPr id="21" name="Прямокутник: округлені кути 20">
              <a:extLst>
                <a:ext uri="{FF2B5EF4-FFF2-40B4-BE49-F238E27FC236}">
                  <a16:creationId xmlns:a16="http://schemas.microsoft.com/office/drawing/2014/main" id="{2C8BCD86-3ACB-5F05-B306-CF22440B0C74}"/>
                </a:ext>
              </a:extLst>
            </p:cNvPr>
            <p:cNvSpPr/>
            <p:nvPr/>
          </p:nvSpPr>
          <p:spPr>
            <a:xfrm>
              <a:off x="0" y="1510795"/>
              <a:ext cx="5334830" cy="466342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22" name="Прямокутник: округлені кути 8">
              <a:extLst>
                <a:ext uri="{FF2B5EF4-FFF2-40B4-BE49-F238E27FC236}">
                  <a16:creationId xmlns:a16="http://schemas.microsoft.com/office/drawing/2014/main" id="{4F5A315D-C988-0516-A1EC-BB87CBC2CA91}"/>
                </a:ext>
              </a:extLst>
            </p:cNvPr>
            <p:cNvSpPr txBox="1"/>
            <p:nvPr/>
          </p:nvSpPr>
          <p:spPr>
            <a:xfrm>
              <a:off x="30699" y="1541493"/>
              <a:ext cx="5273432" cy="4356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kern="12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2.</a:t>
              </a: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 Хмарна модель.</a:t>
              </a:r>
            </a:p>
          </p:txBody>
        </p:sp>
      </p:grpSp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4C1819D0-1D06-C0B7-3103-C9C1EFBF94B9}"/>
              </a:ext>
            </a:extLst>
          </p:cNvPr>
          <p:cNvGrpSpPr/>
          <p:nvPr/>
        </p:nvGrpSpPr>
        <p:grpSpPr>
          <a:xfrm>
            <a:off x="6618825" y="5426322"/>
            <a:ext cx="5334830" cy="811947"/>
            <a:chOff x="0" y="2211669"/>
            <a:chExt cx="5334830" cy="628875"/>
          </a:xfrm>
        </p:grpSpPr>
        <p:sp>
          <p:nvSpPr>
            <p:cNvPr id="18" name="Прямокутник: округлені кути 17">
              <a:extLst>
                <a:ext uri="{FF2B5EF4-FFF2-40B4-BE49-F238E27FC236}">
                  <a16:creationId xmlns:a16="http://schemas.microsoft.com/office/drawing/2014/main" id="{BA60A559-52EB-4BFA-B1F5-9EC82A1388FF}"/>
                </a:ext>
              </a:extLst>
            </p:cNvPr>
            <p:cNvSpPr/>
            <p:nvPr/>
          </p:nvSpPr>
          <p:spPr>
            <a:xfrm>
              <a:off x="0" y="2211669"/>
              <a:ext cx="5334830" cy="6288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uk-UA"/>
            </a:p>
          </p:txBody>
        </p:sp>
        <p:sp>
          <p:nvSpPr>
            <p:cNvPr id="20" name="Прямокутник: округлені кути 10">
              <a:extLst>
                <a:ext uri="{FF2B5EF4-FFF2-40B4-BE49-F238E27FC236}">
                  <a16:creationId xmlns:a16="http://schemas.microsoft.com/office/drawing/2014/main" id="{07826DEA-8503-CC25-33AB-DC30DD1AAD89}"/>
                </a:ext>
              </a:extLst>
            </p:cNvPr>
            <p:cNvSpPr txBox="1"/>
            <p:nvPr/>
          </p:nvSpPr>
          <p:spPr>
            <a:xfrm>
              <a:off x="30699" y="2242368"/>
              <a:ext cx="5273432" cy="5674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uk-UA" sz="2000" kern="12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3. </a:t>
              </a:r>
              <a:r>
                <a:rPr lang="uk-UA" sz="2000" dirty="0">
                  <a:solidFill>
                    <a:srgbClr val="E8EBED"/>
                  </a:solidFill>
                  <a:latin typeface="Cavolini" panose="03000502040302020204" pitchFamily="66" charset="0"/>
                  <a:cs typeface="Cavolini" panose="03000502040302020204" pitchFamily="66" charset="0"/>
                </a:rPr>
                <a:t>Частина можливостей залежить від тарифу.</a:t>
              </a:r>
              <a:endParaRPr lang="en-US" sz="2000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F166C4D2-B252-A8D1-9E5F-659EC51663A3}"/>
              </a:ext>
            </a:extLst>
          </p:cNvPr>
          <p:cNvSpPr txBox="1"/>
          <p:nvPr/>
        </p:nvSpPr>
        <p:spPr>
          <a:xfrm>
            <a:off x="8714740" y="449548"/>
            <a:ext cx="26390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u="sng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Аналіз ринку:</a:t>
            </a:r>
          </a:p>
        </p:txBody>
      </p:sp>
    </p:spTree>
    <p:extLst>
      <p:ext uri="{BB962C8B-B14F-4D97-AF65-F5344CB8AC3E}">
        <p14:creationId xmlns:p14="http://schemas.microsoft.com/office/powerpoint/2010/main" val="2905068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7A4AA-C9E5-D3A2-3A5E-68206E5E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uk-UA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Основні переваги:</a:t>
            </a:r>
          </a:p>
        </p:txBody>
      </p:sp>
      <p:grpSp>
        <p:nvGrpSpPr>
          <p:cNvPr id="17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93F613D-BBA3-CDC0-01EC-AB73C1B26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pPr>
              <a:buClr>
                <a:srgbClr val="9081CD"/>
              </a:buClr>
              <a:buFont typeface="Wingdings" panose="05000000000000000000" pitchFamily="2" charset="2"/>
              <a:buChar char="ü"/>
            </a:pP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простіший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за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великі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ERP; </a:t>
            </a: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ü"/>
            </a:pP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орієнтований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на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малий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бізнес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; </a:t>
            </a: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ü"/>
            </a:pP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локальний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десктопний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застосунок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; </a:t>
            </a: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ü"/>
            </a:pP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зручний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контроль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залишків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; </a:t>
            </a: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ü"/>
            </a:pP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автоматичне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оновлення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складу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після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накладних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; </a:t>
            </a:r>
          </a:p>
          <a:p>
            <a:pPr>
              <a:buClr>
                <a:srgbClr val="C5BAFC"/>
              </a:buClr>
              <a:buFont typeface="Wingdings" panose="05000000000000000000" pitchFamily="2" charset="2"/>
              <a:buChar char="ü"/>
            </a:pP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попередження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про </a:t>
            </a:r>
            <a:r>
              <a:rPr lang="ru-RU" sz="24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низькі</a:t>
            </a:r>
            <a:r>
              <a:rPr lang="ru-RU" sz="24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запаси.</a:t>
            </a:r>
          </a:p>
          <a:p>
            <a:endParaRPr lang="uk-U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894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1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D27E1C-59F7-B51D-695F-103AEF5C3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uk-UA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Актуальність проєкту:</a:t>
            </a:r>
          </a:p>
        </p:txBody>
      </p:sp>
      <p:grpSp>
        <p:nvGrpSpPr>
          <p:cNvPr id="38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DE3CB10-70E1-D2FE-A918-521E9C65D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7415" y="1120796"/>
            <a:ext cx="4974771" cy="5058939"/>
          </a:xfrm>
        </p:spPr>
        <p:txBody>
          <a:bodyPr>
            <a:normAutofit lnSpcReduction="10000"/>
          </a:bodyPr>
          <a:lstStyle/>
          <a:p>
            <a:pPr lvl="0"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Автоматизація</a:t>
            </a:r>
            <a:r>
              <a:rPr lang="uk-UA" sz="20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рутинних складських операцій </a:t>
            </a:r>
          </a:p>
          <a:p>
            <a:pPr lvl="0"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Зменшення ручної роботи</a:t>
            </a:r>
            <a:r>
              <a:rPr lang="uk-UA" sz="20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та кількості помилок при внесенні даних </a:t>
            </a:r>
          </a:p>
          <a:p>
            <a:pPr lvl="0"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Актуальний контроль залишків</a:t>
            </a:r>
            <a:r>
              <a:rPr lang="uk-UA" sz="20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товарів </a:t>
            </a:r>
          </a:p>
          <a:p>
            <a:pPr lvl="0"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Швидке відстеження руху товарів</a:t>
            </a:r>
            <a:r>
              <a:rPr lang="uk-UA" sz="20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- надходження, продажу та списання </a:t>
            </a:r>
          </a:p>
          <a:p>
            <a:pPr lvl="0"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Своєчасне виявленні низьких залишків</a:t>
            </a:r>
            <a:r>
              <a:rPr lang="uk-UA" sz="20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</a:p>
          <a:p>
            <a:pPr lvl="0">
              <a:buClr>
                <a:srgbClr val="C5BAFC"/>
              </a:buClr>
              <a:buFont typeface="Wingdings" panose="05000000000000000000" pitchFamily="2" charset="2"/>
              <a:buChar char="Ø"/>
            </a:pPr>
            <a:r>
              <a:rPr lang="uk-UA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Підвищення ефективності роботи</a:t>
            </a:r>
            <a:r>
              <a:rPr lang="uk-UA" sz="20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невеликого магазину без використання складних ERP-систем</a:t>
            </a:r>
          </a:p>
        </p:txBody>
      </p:sp>
    </p:spTree>
    <p:extLst>
      <p:ext uri="{BB962C8B-B14F-4D97-AF65-F5344CB8AC3E}">
        <p14:creationId xmlns:p14="http://schemas.microsoft.com/office/powerpoint/2010/main" val="2799457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DD92C7-9E4F-929D-ECCC-6F82C7F4785A}"/>
              </a:ext>
            </a:extLst>
          </p:cNvPr>
          <p:cNvSpPr txBox="1"/>
          <p:nvPr/>
        </p:nvSpPr>
        <p:spPr>
          <a:xfrm>
            <a:off x="1102368" y="1877492"/>
            <a:ext cx="4030132" cy="321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 dirty="0" err="1">
                <a:solidFill>
                  <a:srgbClr val="E8EBED"/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Основна</a:t>
            </a:r>
            <a:r>
              <a:rPr lang="en-US" sz="4400" b="1" kern="1200" dirty="0">
                <a:solidFill>
                  <a:srgbClr val="E8EBED"/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 </a:t>
            </a:r>
            <a:r>
              <a:rPr lang="en-US" sz="4400" b="1" kern="1200" dirty="0" err="1">
                <a:solidFill>
                  <a:srgbClr val="E8EBED"/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функціональність</a:t>
            </a:r>
            <a:r>
              <a:rPr lang="en-US" sz="4400" b="1" kern="1200" dirty="0">
                <a:solidFill>
                  <a:srgbClr val="E8EBED"/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:</a:t>
            </a:r>
            <a:endParaRPr lang="en-US" sz="4400" kern="1200" dirty="0">
              <a:solidFill>
                <a:srgbClr val="E8EBED"/>
              </a:solidFill>
              <a:latin typeface="Cavolini" panose="03000502040302020204" pitchFamily="66" charset="0"/>
              <a:ea typeface="+mj-ea"/>
              <a:cs typeface="Cavolini" panose="03000502040302020204" pitchFamily="66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4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0209512-3E77-A051-8D21-D605ACAE8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650" y="956517"/>
            <a:ext cx="5217173" cy="5478307"/>
          </a:xfrm>
        </p:spPr>
        <p:txBody>
          <a:bodyPr vert="horz" lIns="91440" tIns="45720" rIns="91440" bIns="45720" rtlCol="0">
            <a:normAutofit/>
          </a:bodyPr>
          <a:lstStyle/>
          <a:p>
            <a:pPr lvl="0">
              <a:buClr>
                <a:srgbClr val="9081CD"/>
              </a:buClr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Керування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товарами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та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категоріями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—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додавання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,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редагування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,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видалення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та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перегляд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.</a:t>
            </a:r>
          </a:p>
          <a:p>
            <a:pPr lvl="0">
              <a:buClr>
                <a:srgbClr val="9081CD"/>
              </a:buClr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Облік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складських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залишків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—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контроль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актуальної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кількості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товарів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.</a:t>
            </a:r>
          </a:p>
          <a:p>
            <a:pPr lvl="0">
              <a:buClr>
                <a:srgbClr val="9081CD"/>
              </a:buClr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Облік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постачальників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—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контактна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інформація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.</a:t>
            </a:r>
          </a:p>
          <a:p>
            <a:pPr lvl="0">
              <a:buClr>
                <a:srgbClr val="9081CD"/>
              </a:buClr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Робота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з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накладними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та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списаннями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—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реєстрація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надходження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і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вибуття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товарів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.</a:t>
            </a:r>
          </a:p>
          <a:p>
            <a:pPr lvl="0">
              <a:buClr>
                <a:srgbClr val="9081CD"/>
              </a:buClr>
              <a:buFont typeface="Wingdings" panose="05000000000000000000" pitchFamily="2" charset="2"/>
              <a:buChar char="Ø"/>
            </a:pP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Пошук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,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фільтрація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та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звіти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—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швидкий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доступ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до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інформації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про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товари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й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рух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n-US" sz="2000" b="1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товарів</a:t>
            </a:r>
            <a:r>
              <a:rPr lang="en-US" sz="2000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.</a:t>
            </a:r>
            <a:endParaRPr lang="en-US" sz="2000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grpSp>
        <p:nvGrpSpPr>
          <p:cNvPr id="42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9921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3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26" name="Oval 3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0ABCF0-23B4-FCB9-2379-EE2179D6408A}"/>
              </a:ext>
            </a:extLst>
          </p:cNvPr>
          <p:cNvSpPr txBox="1"/>
          <p:nvPr/>
        </p:nvSpPr>
        <p:spPr>
          <a:xfrm>
            <a:off x="5438007" y="2952703"/>
            <a:ext cx="4508641" cy="1116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b="1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Front-end:</a:t>
            </a:r>
          </a:p>
          <a:p>
            <a:pPr marL="285750" lvl="0" indent="-285750" algn="ctr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WPF </a:t>
            </a:r>
          </a:p>
          <a:p>
            <a:pPr marL="285750" lvl="0" indent="-285750" algn="ctr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</a:pPr>
            <a:r>
              <a:rPr lang="en-US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XAML </a:t>
            </a:r>
          </a:p>
        </p:txBody>
      </p:sp>
      <p:sp>
        <p:nvSpPr>
          <p:cNvPr id="3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4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17DE133-2045-2E16-0707-F0BDA70A9A48}"/>
              </a:ext>
            </a:extLst>
          </p:cNvPr>
          <p:cNvSpPr txBox="1"/>
          <p:nvPr/>
        </p:nvSpPr>
        <p:spPr>
          <a:xfrm>
            <a:off x="734546" y="536920"/>
            <a:ext cx="35419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3200" b="1" u="sng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Технології: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C5409-9DD8-385F-51FF-E75B52E115E5}"/>
              </a:ext>
            </a:extLst>
          </p:cNvPr>
          <p:cNvSpPr txBox="1"/>
          <p:nvPr/>
        </p:nvSpPr>
        <p:spPr>
          <a:xfrm>
            <a:off x="4524423" y="794521"/>
            <a:ext cx="2731393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Back-end:</a:t>
            </a:r>
            <a:endParaRPr lang="uk-UA" b="1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 marL="342900" lvl="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C# </a:t>
            </a:r>
          </a:p>
          <a:p>
            <a:pPr marL="342900" lvl="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.NET 8 </a:t>
            </a:r>
          </a:p>
          <a:p>
            <a:pPr marL="342900" lvl="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ADO.NET </a:t>
            </a:r>
          </a:p>
          <a:p>
            <a:pPr marL="342900" lvl="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uk-UA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GitHub</a:t>
            </a: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uk-UA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Actions</a:t>
            </a: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</a:p>
          <a:p>
            <a:pPr marL="342900" lvl="0" indent="-3429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uk-UA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xUnit</a:t>
            </a:r>
            <a:r>
              <a:rPr lang="uk-UA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DC886-3F9B-311E-06C7-940A6549079F}"/>
              </a:ext>
            </a:extLst>
          </p:cNvPr>
          <p:cNvSpPr txBox="1"/>
          <p:nvPr/>
        </p:nvSpPr>
        <p:spPr>
          <a:xfrm>
            <a:off x="4147687" y="4548767"/>
            <a:ext cx="258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b="1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База даних: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PostgreSQL</a:t>
            </a:r>
            <a:endParaRPr lang="uk-UA" dirty="0">
              <a:solidFill>
                <a:srgbClr val="E8EBED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61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DEB5F14-5014-49D1-B590-9E2B7721C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D2B953D-3D65-4BA7-80E6-139390790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0604" y="147284"/>
            <a:ext cx="4314573" cy="4314573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raphic 212">
            <a:extLst>
              <a:ext uri="{FF2B5EF4-FFF2-40B4-BE49-F238E27FC236}">
                <a16:creationId xmlns:a16="http://schemas.microsoft.com/office/drawing/2014/main" id="{4CA0A0B8-0ABD-4C1D-8BDE-4D94C94FD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9" name="Graphic 212">
            <a:extLst>
              <a:ext uri="{FF2B5EF4-FFF2-40B4-BE49-F238E27FC236}">
                <a16:creationId xmlns:a16="http://schemas.microsoft.com/office/drawing/2014/main" id="{FF2923AC-40BC-4610-B6BD-AECABAF6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4194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8A188E6-9899-40AA-9648-7B9BEAF52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881974" y="1174396"/>
            <a:ext cx="5290997" cy="5290997"/>
            <a:chOff x="1881974" y="1174396"/>
            <a:chExt cx="5290997" cy="5290997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10D3957-AAB5-4037-A58C-20FF0E226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4478242-FDA7-48D1-A53E-3E0EDB2A71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Oval 54">
            <a:extLst>
              <a:ext uri="{FF2B5EF4-FFF2-40B4-BE49-F238E27FC236}">
                <a16:creationId xmlns:a16="http://schemas.microsoft.com/office/drawing/2014/main" id="{F47059C0-3CD3-44C5-9FBC-C5CEA6D94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254" y="1065353"/>
            <a:ext cx="5290997" cy="529099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362D71-0AC5-2455-C53B-DE13679E9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449" y="1434760"/>
            <a:ext cx="4079551" cy="287763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 err="1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Наш</a:t>
            </a:r>
            <a:r>
              <a:rPr lang="en-US" sz="5400" b="1" kern="1200" dirty="0">
                <a:solidFill>
                  <a:srgbClr val="E8EBED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GitHub: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58D4058-511F-B29A-8EB5-14BFD6E7B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5949" y="4614395"/>
            <a:ext cx="4598750" cy="81160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  <a:hlinkClick r:id="rId2"/>
              </a:rPr>
              <a:t>https://github.com/SemYanyshyn/StockFlow</a:t>
            </a:r>
            <a:endParaRPr lang="en-US" sz="20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8A6A50F-EF16-474F-9BD1-2D663EBEA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65353"/>
            <a:ext cx="1861854" cy="717514"/>
            <a:chOff x="0" y="1065353"/>
            <a:chExt cx="1861854" cy="717514"/>
          </a:xfrm>
          <a:solidFill>
            <a:schemeClr val="bg1"/>
          </a:solidFill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AA37927-0235-4A56-8680-D7B36716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06535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D5F1B50-7A4C-4505-93E5-35FB751467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50508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19ED43C-E7C4-5613-9B62-D5CEE7EDE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633218" y="259804"/>
            <a:ext cx="6213374" cy="4144216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61" name="Graphic 185">
            <a:extLst>
              <a:ext uri="{FF2B5EF4-FFF2-40B4-BE49-F238E27FC236}">
                <a16:creationId xmlns:a16="http://schemas.microsoft.com/office/drawing/2014/main" id="{4717BE92-F93B-41D0-A644-64F6E524C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6418" y="4140693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CA26306-9FAA-4D01-957F-3E9B25A25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A458C4D-E6E4-42CA-BC7C-301BFBAA7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CDA802E-5743-4261-84A2-D9D8F19A3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8FCFC560-017D-4F70-ADE9-00A770915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65F55DD-D975-452E-9674-461DBDBDE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8" name="Oval 67">
            <a:extLst>
              <a:ext uri="{FF2B5EF4-FFF2-40B4-BE49-F238E27FC236}">
                <a16:creationId xmlns:a16="http://schemas.microsoft.com/office/drawing/2014/main" id="{D245B05D-DA60-40E2-8A0A-B078C91D7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401FD61C-FC3A-43C0-9641-28B0C1A54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02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: Shape 89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: Shape 91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62FA3-AB32-1128-2756-F751393BA2BE}"/>
              </a:ext>
            </a:extLst>
          </p:cNvPr>
          <p:cNvSpPr txBox="1"/>
          <p:nvPr/>
        </p:nvSpPr>
        <p:spPr>
          <a:xfrm>
            <a:off x="2242409" y="895483"/>
            <a:ext cx="5786232" cy="30111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solidFill>
                  <a:srgbClr val="E8EBED"/>
                </a:solidFill>
                <a:latin typeface="+mj-lt"/>
                <a:ea typeface="+mj-ea"/>
                <a:cs typeface="+mj-cs"/>
              </a:rPr>
              <a:t>ДЯКУЄМО ЗА УВАГУ</a:t>
            </a:r>
          </a:p>
        </p:txBody>
      </p:sp>
      <p:sp>
        <p:nvSpPr>
          <p:cNvPr id="94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6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98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5" name="Oval 104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1834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Настроювані 1">
      <a:dk1>
        <a:sysClr val="windowText" lastClr="000000"/>
      </a:dk1>
      <a:lt1>
        <a:sysClr val="window" lastClr="FFFFFF"/>
      </a:lt1>
      <a:dk2>
        <a:srgbClr val="7030A0"/>
      </a:dk2>
      <a:lt2>
        <a:srgbClr val="EAE5EB"/>
      </a:lt2>
      <a:accent1>
        <a:srgbClr val="4E1E76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247769-a1d4-4a78-966c-24a42d4b375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0978887A42EE147A6B889BE1F9BFE4F" ma:contentTypeVersion="10" ma:contentTypeDescription="Створення нового документа." ma:contentTypeScope="" ma:versionID="f7926ec231ce9557e6983c1f42a2db67">
  <xsd:schema xmlns:xsd="http://www.w3.org/2001/XMLSchema" xmlns:xs="http://www.w3.org/2001/XMLSchema" xmlns:p="http://schemas.microsoft.com/office/2006/metadata/properties" xmlns:ns3="30247769-a1d4-4a78-966c-24a42d4b375a" targetNamespace="http://schemas.microsoft.com/office/2006/metadata/properties" ma:root="true" ma:fieldsID="a51bfbca9a63862280d842bd6040da3f" ns3:_="">
    <xsd:import namespace="30247769-a1d4-4a78-966c-24a42d4b375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247769-a1d4-4a78-966c-24a42d4b375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962687-4E47-450B-8EC6-5A1327948C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BBD702-6B9F-4DFE-9A74-96C91562E16D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30247769-a1d4-4a78-966c-24a42d4b375a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16A15FDF-F3EF-4D39-A61A-82B463994D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247769-a1d4-4a78-966c-24a42d4b37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1244</TotalTime>
  <Words>533</Words>
  <Application>Microsoft Office PowerPoint</Application>
  <PresentationFormat>Широкий екран</PresentationFormat>
  <Paragraphs>99</Paragraphs>
  <Slides>14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Cavolini</vt:lpstr>
      <vt:lpstr>Wingdings</vt:lpstr>
      <vt:lpstr>Тема Office</vt:lpstr>
      <vt:lpstr>StockFlow</vt:lpstr>
      <vt:lpstr>Наша  команда:</vt:lpstr>
      <vt:lpstr>Аналіз проблеми:</vt:lpstr>
      <vt:lpstr>Цільові користувачі:</vt:lpstr>
      <vt:lpstr>Мета проєкту:</vt:lpstr>
      <vt:lpstr>Презентація PowerPoint</vt:lpstr>
      <vt:lpstr>ZOHO inventory:</vt:lpstr>
      <vt:lpstr>SORTLY:</vt:lpstr>
      <vt:lpstr>Основні переваги:</vt:lpstr>
      <vt:lpstr>Актуальність проєкту:</vt:lpstr>
      <vt:lpstr>Презентація PowerPoint</vt:lpstr>
      <vt:lpstr>Презентація PowerPoint</vt:lpstr>
      <vt:lpstr>Наш GitHub: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Тарабій Олександра</dc:creator>
  <cp:lastModifiedBy>Тарабій Олександра</cp:lastModifiedBy>
  <cp:revision>31</cp:revision>
  <dcterms:created xsi:type="dcterms:W3CDTF">2026-09-08T07:21:58Z</dcterms:created>
  <dcterms:modified xsi:type="dcterms:W3CDTF">2026-09-17T08:32:55Z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0x01010080978887A42EE147A6B889BE1F9BFE4F</vt:lpwstr>
  </property>
</Properties>
</file>