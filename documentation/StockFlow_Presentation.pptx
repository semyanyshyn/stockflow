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9" r:id="rId12"/>
    <p:sldId id="271" r:id="rId13"/>
    <p:sldId id="270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27A"/>
    <a:srgbClr val="E8EBED"/>
    <a:srgbClr val="9081CD"/>
    <a:srgbClr val="1F1A5C"/>
    <a:srgbClr val="C5BAFC"/>
    <a:srgbClr val="786BAB"/>
    <a:srgbClr val="A297D9"/>
    <a:srgbClr val="372A65"/>
    <a:srgbClr val="63578A"/>
    <a:srgbClr val="745F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4" d="100"/>
          <a:sy n="64" d="100"/>
        </p:scale>
        <p:origin x="509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A2BEB6-71DF-4DD0-A545-056470BA93C4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370FBD-9570-4869-95E7-DF90C0AA49AA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89468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370FBD-9570-4869-95E7-DF90C0AA49AA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76422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B3B504-B4C6-6617-7B38-5E0F39CEC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F5B34A30-6D18-466C-E1F7-7356F239FB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0CF15AA7-27B6-A363-9ACA-C5DBBE4F2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1597DB0-7416-87BE-FB74-DA7B0DC99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0B7294B-F0BC-1596-29AF-6781BB54D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01101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2BC08D-3615-7EAA-DD89-1204DCA3A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A2A3987-684A-028A-5676-D179E3BC1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B1E3BCEE-4E82-CD1B-B08F-FC87F155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06DB9A2-35D5-32E8-CCD1-D025A1362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043EE36-8196-E17D-8D6F-2DD3397C0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55926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FE4C2A-503C-5057-811A-DFBE276FE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5AD75C61-6E8A-D291-D13D-56D6CAD02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77CCB8DD-9113-E456-EC29-1CFE7DB7D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2D161AC4-421A-BC2A-96BB-06796F0C0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9E1EF0E8-CB0F-0DE3-B93B-E8BDA3516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74613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2455A5-C5CF-4194-17AA-D1DD50B0D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E5646362-61C1-9350-6747-FF5E4560C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EAD7A1CB-DB01-3A85-0D48-B35A24B170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E4719CB3-F522-198D-B802-00C981917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773FDBAE-F36E-C700-ADC2-02632BD53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D3BC7CF0-753D-BF8D-51E2-1083FACA1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93183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35E5AF-FBB7-A8BC-E445-DEE7F406F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0312464C-9C3C-C020-A19C-9ADDB4B3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C39CB68F-5870-7E40-EB77-1511AE6FC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52332C9F-583F-501F-D8DC-57BBDDF77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AE837DAF-F62C-E9FD-77A2-FA24480276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533CCDFD-482A-B503-3270-7C00A0673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1DF20F58-15A9-8333-3211-7BF81702E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957924E5-6D0D-56CC-E3EA-D23E75EB6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84385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D5AA23-6BDD-1EC8-1E51-B9F81F69B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027C1915-610D-2473-078D-38F4C3034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A93E593E-C5FA-1864-0DF3-64413222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D564B87E-9CDF-6475-851C-368A08930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205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D56AC78E-ED43-3C77-1D43-4D0464059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A0534421-8A1E-B4B7-C410-A80C4E77D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C99FEB29-F989-B32B-D966-6EA494A22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64965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F14B79-4F61-B73B-CEED-09BB2E76C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F587E23B-91B9-E564-2A4B-0E6CC3567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5551125A-6EBE-B5B5-8D01-FB3F60DEC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8CD4027-7CF3-B90C-3D7B-DFD2AE14F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58F4F445-A690-F3CF-BCD4-4DB857735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1E338422-EF66-1E29-D0FA-B18EBE453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52690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DC3B1D-46D8-B5A4-0EDE-DEA5BBBE7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A35BD17C-00E3-D33E-4C8A-1E76D4E0EB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00B11A50-BD2C-04B4-2509-993E650074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1497AA6F-B83C-DE5E-1560-964B5856F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4B9B5F87-D95D-F517-F311-192752847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27EE1DA6-231E-7BA3-AD41-239876244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328155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B6F17C-BEED-4A5B-BAFE-9E105ED03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1FFA93F-6902-EB4B-FDAC-DE1F58DF9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F20A20E3-E736-0D17-FD2E-3C5C84470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96AB3BDB-0153-383D-B6AB-106FA16A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D17706EB-9E3F-793F-8D02-4679A2E60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0712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D22E2F10-957B-A5EA-AC73-3B952FB22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D6632268-B06B-C503-4FDB-9CB731855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AF12B-552F-3C0F-3CD2-EE1BDF04B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B615C237-3494-0BA8-7E0B-C7A8CBFE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5BBAACFB-B795-5331-AC9A-75F8993A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3994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9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89638DEE-4337-E3E5-68C0-057999116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2BFF64A9-E410-3BA1-328A-BFF5907AF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A2DBBFBE-D834-217B-BFFB-33A06C4002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C7ED4A8-8E0A-E3F4-19CD-208D2A4DCE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9B017573-2D0F-09AF-C34F-AB3B8C75F3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13570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SemYanyshyn/StockFlow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увати 20">
            <a:extLst>
              <a:ext uri="{FF2B5EF4-FFF2-40B4-BE49-F238E27FC236}">
                <a16:creationId xmlns:a16="http://schemas.microsoft.com/office/drawing/2014/main" id="{B4980F85-064B-54E2-73C8-A228D6E8D617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14" name="Прямокутник: округлені кути 13">
              <a:extLst>
                <a:ext uri="{FF2B5EF4-FFF2-40B4-BE49-F238E27FC236}">
                  <a16:creationId xmlns:a16="http://schemas.microsoft.com/office/drawing/2014/main" id="{A9A6C5B6-3386-712E-7A3D-255C3B8A04FA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3" name="Прямокутник: округлені кути 12">
              <a:extLst>
                <a:ext uri="{FF2B5EF4-FFF2-40B4-BE49-F238E27FC236}">
                  <a16:creationId xmlns:a16="http://schemas.microsoft.com/office/drawing/2014/main" id="{33D17903-44AB-3B9B-E565-3CC991891EC4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FF1E8B-DB28-D3D1-6CC3-ED0D816A7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59080" y="1833126"/>
            <a:ext cx="9144000" cy="2387600"/>
          </a:xfrm>
          <a:ln>
            <a:noFill/>
          </a:ln>
          <a:effectLst>
            <a:glow rad="228600">
              <a:srgbClr val="E8EBED">
                <a:alpha val="40000"/>
              </a:srgbClr>
            </a:glow>
          </a:effectLst>
        </p:spPr>
        <p:txBody>
          <a:bodyPr>
            <a:normAutofit/>
          </a:bodyPr>
          <a:lstStyle/>
          <a:p>
            <a:r>
              <a:rPr lang="en-US" sz="8800" b="1" dirty="0" err="1">
                <a:ln w="38100"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67000">
                      <a:srgbClr val="372A65"/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StockFlow</a:t>
            </a:r>
            <a:endParaRPr lang="uk-UA" sz="8800" b="1" dirty="0">
              <a:ln w="38100">
                <a:solidFill>
                  <a:schemeClr val="bg1"/>
                </a:solidFill>
              </a:ln>
              <a:gradFill flip="none" rotWithShape="1">
                <a:gsLst>
                  <a:gs pos="0">
                    <a:srgbClr val="C5BAFC"/>
                  </a:gs>
                  <a:gs pos="67000">
                    <a:srgbClr val="372A65"/>
                  </a:gs>
                </a:gsLst>
                <a:lin ang="162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5" name="Прямокутник: округлені кути 14">
            <a:extLst>
              <a:ext uri="{FF2B5EF4-FFF2-40B4-BE49-F238E27FC236}">
                <a16:creationId xmlns:a16="http://schemas.microsoft.com/office/drawing/2014/main" id="{5EE2E490-0A86-0417-EC39-3D000E14DC45}"/>
              </a:ext>
            </a:extLst>
          </p:cNvPr>
          <p:cNvSpPr/>
          <p:nvPr/>
        </p:nvSpPr>
        <p:spPr>
          <a:xfrm>
            <a:off x="7773982" y="759779"/>
            <a:ext cx="3836473" cy="4701202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4F106F42-CA0B-F58A-9A72-8FB841236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8153" y="1999112"/>
            <a:ext cx="3508129" cy="3931767"/>
          </a:xfrm>
        </p:spPr>
        <p:txBody>
          <a:bodyPr>
            <a:normAutofit/>
          </a:bodyPr>
          <a:lstStyle/>
          <a:p>
            <a:pPr algn="just"/>
            <a:r>
              <a:rPr lang="uk-UA" sz="18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Десктопний</a:t>
            </a: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застосунок для автоматизації складського обліку невеликого інтернет-магазину (товари, категорії, залишки, накладні, постачальники).</a:t>
            </a:r>
          </a:p>
        </p:txBody>
      </p:sp>
      <p:grpSp>
        <p:nvGrpSpPr>
          <p:cNvPr id="22" name="Групувати 21">
            <a:extLst>
              <a:ext uri="{FF2B5EF4-FFF2-40B4-BE49-F238E27FC236}">
                <a16:creationId xmlns:a16="http://schemas.microsoft.com/office/drawing/2014/main" id="{E081369C-15D2-4334-2EFC-74021DD53B6B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11" name="Прямокутник: округлені кути 10">
              <a:extLst>
                <a:ext uri="{FF2B5EF4-FFF2-40B4-BE49-F238E27FC236}">
                  <a16:creationId xmlns:a16="http://schemas.microsoft.com/office/drawing/2014/main" id="{C1DA8A30-34FA-C400-4910-BA39A6EB9CB4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16" name="Прямокутник: округлені кути 15">
              <a:extLst>
                <a:ext uri="{FF2B5EF4-FFF2-40B4-BE49-F238E27FC236}">
                  <a16:creationId xmlns:a16="http://schemas.microsoft.com/office/drawing/2014/main" id="{395BCC32-BA17-739D-9CBA-A57EEE68F65C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9" name="Графіка 17" descr="Magnifying glass outline">
              <a:extLst>
                <a:ext uri="{FF2B5EF4-FFF2-40B4-BE49-F238E27FC236}">
                  <a16:creationId xmlns:a16="http://schemas.microsoft.com/office/drawing/2014/main" id="{89837F32-104D-90AB-5482-874CA6713B18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</p:spTree>
    <p:extLst>
      <p:ext uri="{BB962C8B-B14F-4D97-AF65-F5344CB8AC3E}">
        <p14:creationId xmlns:p14="http://schemas.microsoft.com/office/powerpoint/2010/main" val="1022847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Групувати 11">
            <a:extLst>
              <a:ext uri="{FF2B5EF4-FFF2-40B4-BE49-F238E27FC236}">
                <a16:creationId xmlns:a16="http://schemas.microsoft.com/office/drawing/2014/main" id="{BE3286C6-899B-A9DC-2254-76A2FDC1D4AD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13" name="Прямокутник: округлені кути 12">
              <a:extLst>
                <a:ext uri="{FF2B5EF4-FFF2-40B4-BE49-F238E27FC236}">
                  <a16:creationId xmlns:a16="http://schemas.microsoft.com/office/drawing/2014/main" id="{63796B9C-E562-1892-9681-4313A3F25B11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4" name="Прямокутник: округлені кути 13">
              <a:extLst>
                <a:ext uri="{FF2B5EF4-FFF2-40B4-BE49-F238E27FC236}">
                  <a16:creationId xmlns:a16="http://schemas.microsoft.com/office/drawing/2014/main" id="{93375355-4DF4-63A1-7ADC-03BDDCB2AAF3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BB726FD-7DAE-B215-C16A-790AECC06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848186" y="786098"/>
            <a:ext cx="4258737" cy="6006877"/>
          </a:xfrm>
          <a:prstGeom prst="rect">
            <a:avLst/>
          </a:prstGeom>
        </p:spPr>
      </p:pic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FFD081D0-DF98-C9A0-6B5A-13801C3F5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3840" y="2506662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uk-UA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Янишин</a:t>
            </a: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Семен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Тарабій Олександра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Козловська Тетяна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uk-UA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Демус</a:t>
            </a: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Мар’ян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F28DD5-A027-2717-4161-41E45C5B9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895" y="407797"/>
            <a:ext cx="4982436" cy="4351338"/>
          </a:xfrm>
        </p:spPr>
        <p:txBody>
          <a:bodyPr>
            <a:normAutofit/>
          </a:bodyPr>
          <a:lstStyle/>
          <a:p>
            <a:pPr algn="r"/>
            <a:r>
              <a:rPr lang="uk-UA" sz="6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Наша </a:t>
            </a:r>
            <a:br>
              <a:rPr lang="uk-UA" sz="6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sz="6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команда:</a:t>
            </a:r>
          </a:p>
        </p:txBody>
      </p:sp>
      <p:grpSp>
        <p:nvGrpSpPr>
          <p:cNvPr id="15" name="Групувати 14">
            <a:extLst>
              <a:ext uri="{FF2B5EF4-FFF2-40B4-BE49-F238E27FC236}">
                <a16:creationId xmlns:a16="http://schemas.microsoft.com/office/drawing/2014/main" id="{5DE17A25-A4ED-485D-F84F-05689F831C20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16" name="Прямокутник: округлені кути 15">
              <a:extLst>
                <a:ext uri="{FF2B5EF4-FFF2-40B4-BE49-F238E27FC236}">
                  <a16:creationId xmlns:a16="http://schemas.microsoft.com/office/drawing/2014/main" id="{D5883067-1D2C-739E-E800-70C076996952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17" name="Прямокутник: округлені кути 16">
              <a:extLst>
                <a:ext uri="{FF2B5EF4-FFF2-40B4-BE49-F238E27FC236}">
                  <a16:creationId xmlns:a16="http://schemas.microsoft.com/office/drawing/2014/main" id="{4DDE6B52-E220-2D7B-7E7A-C9AC2D706FD5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8" name="Графіка 17" descr="Magnifying glass outline">
              <a:extLst>
                <a:ext uri="{FF2B5EF4-FFF2-40B4-BE49-F238E27FC236}">
                  <a16:creationId xmlns:a16="http://schemas.microsoft.com/office/drawing/2014/main" id="{4F2DA4BC-6682-C4E0-C62F-9074A7238893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</p:spTree>
    <p:extLst>
      <p:ext uri="{BB962C8B-B14F-4D97-AF65-F5344CB8AC3E}">
        <p14:creationId xmlns:p14="http://schemas.microsoft.com/office/powerpoint/2010/main" val="313207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ECC326D8-C723-278A-274B-D3258075FE1F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BD70C428-6FB9-A846-4B80-F0335D0B13C5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F315B493-2911-00E9-8F1F-67C06D3594D9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0F569090-7A26-478F-CDDB-46A9E89BA2E3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D85E5562-3C48-F50D-D8A2-6B4289A7231F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996D74F6-3897-548A-C505-A5A22B393232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D51547AC-3A1F-C204-9511-66DFB2C5B3AB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06423F-C7C0-2BF6-C35D-C56C6A9C7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67" y="399040"/>
            <a:ext cx="8119694" cy="1325563"/>
          </a:xfrm>
        </p:spPr>
        <p:txBody>
          <a:bodyPr>
            <a:normAutofit/>
          </a:bodyPr>
          <a:lstStyle/>
          <a:p>
            <a:r>
              <a:rPr lang="uk-UA" sz="3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Аналіз</a:t>
            </a:r>
            <a:r>
              <a:rPr lang="uk-UA" sz="40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проблеми: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3669A3B-EE02-C330-50DB-C34480F11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371186" y="57558"/>
            <a:ext cx="4038968" cy="7373059"/>
          </a:xfrm>
          <a:prstGeom prst="rect">
            <a:avLst/>
          </a:prstGeom>
        </p:spPr>
      </p:pic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3A43877A-D019-3B2B-4A8A-9AF01801D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3446" y="2317481"/>
            <a:ext cx="6238450" cy="4351338"/>
          </a:xfrm>
        </p:spPr>
        <p:txBody>
          <a:bodyPr>
            <a:normAutofit/>
          </a:bodyPr>
          <a:lstStyle/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Актуальні залишки складно контролювати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Велика кількість ручної роботи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Високий ризик помилок у даних та накладних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Складно відстежувати рух товарів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Ризик продажу відсутнього товару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Немає своєчасного контролю низьких залишків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8B919-B295-2868-4FE3-F5150A312F77}"/>
              </a:ext>
            </a:extLst>
          </p:cNvPr>
          <p:cNvSpPr txBox="1"/>
          <p:nvPr/>
        </p:nvSpPr>
        <p:spPr>
          <a:xfrm>
            <a:off x="7658007" y="1528800"/>
            <a:ext cx="375031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uk-UA" sz="3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Проблеми ручного складського обліку:</a:t>
            </a:r>
            <a:endParaRPr lang="uk-UA" sz="3600" dirty="0">
              <a:gradFill>
                <a:gsLst>
                  <a:gs pos="0">
                    <a:srgbClr val="C5BAFC"/>
                  </a:gs>
                  <a:gs pos="55000">
                    <a:srgbClr val="1F1A5C">
                      <a:shade val="100000"/>
                      <a:satMod val="115000"/>
                    </a:srgbClr>
                  </a:gs>
                </a:gsLst>
                <a:lin ang="162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96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282D11C7-7210-801B-CF83-572AEC058288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728DCD5E-3F3C-C3C0-DD8A-7E1303E4ADBF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3A8AE9F7-955B-F4BB-1F33-EB7E7578B879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DE06BA15-9DA2-4D19-C27D-8548C1E145C5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1FE84EE8-1935-1ED7-236A-FF89EB74D634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5D1F17E0-9BDB-E95F-BEC6-009E08036008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8D1B41F8-E060-D56F-524A-72CAC01CD579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1175B-BD4C-9355-C418-5C994F518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67" y="502531"/>
            <a:ext cx="10515600" cy="1183794"/>
          </a:xfrm>
        </p:spPr>
        <p:txBody>
          <a:bodyPr>
            <a:normAutofit/>
          </a:bodyPr>
          <a:lstStyle/>
          <a:p>
            <a:r>
              <a:rPr lang="uk-UA" sz="3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Рішення</a:t>
            </a:r>
            <a:r>
              <a:rPr lang="uk-UA" sz="36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B0B2A0F-5E58-2B45-81F5-E004BFC0E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230380" y="-2058033"/>
            <a:ext cx="3852896" cy="11644153"/>
          </a:xfrm>
          <a:prstGeom prst="rect">
            <a:avLst/>
          </a:prstGeom>
        </p:spPr>
      </p:pic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204FCB83-93B4-1D45-7B0F-62AE349B5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648" y="2506662"/>
            <a:ext cx="9590512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Створити </a:t>
            </a:r>
            <a:r>
              <a:rPr lang="uk-UA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десктопну</a:t>
            </a: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систему складського обліку з базою товарів і категорій, обліком залишків, постачальників, надходжень та списань. Система також може автоматично попереджати про низький рівень запасів.</a:t>
            </a:r>
          </a:p>
        </p:txBody>
      </p:sp>
    </p:spTree>
    <p:extLst>
      <p:ext uri="{BB962C8B-B14F-4D97-AF65-F5344CB8AC3E}">
        <p14:creationId xmlns:p14="http://schemas.microsoft.com/office/powerpoint/2010/main" val="2656093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12516A1D-53D3-776F-72FB-033B4C505979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737DAEED-4401-F509-948D-69018AC60A27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57AA67EC-1580-B844-A84D-53222AB61C16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C0610ED0-8D5D-1597-89AC-6D663370318F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B72BFADA-588B-1073-81FE-56D0265B0630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8DD0F097-2F0F-607C-1B89-2B3B34AC6113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014B79DB-BD58-3398-E1EA-8756279BDA0C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1EDDC0-8574-7277-2435-67596F6E3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5402" y="408728"/>
            <a:ext cx="10515600" cy="1325563"/>
          </a:xfrm>
        </p:spPr>
        <p:txBody>
          <a:bodyPr>
            <a:normAutofit/>
          </a:bodyPr>
          <a:lstStyle/>
          <a:p>
            <a:r>
              <a:rPr lang="uk-UA" sz="32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Цільові користувачі:</a:t>
            </a: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33BF5314-3676-456B-10E4-DC61B0284B1D}"/>
              </a:ext>
            </a:extLst>
          </p:cNvPr>
          <p:cNvSpPr/>
          <p:nvPr/>
        </p:nvSpPr>
        <p:spPr>
          <a:xfrm rot="16200000">
            <a:off x="4642553" y="-1279400"/>
            <a:ext cx="3108705" cy="9959004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F810797-CFC5-AB48-9CEE-334923B1F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923" y="2230800"/>
            <a:ext cx="9667673" cy="4351338"/>
          </a:xfrm>
        </p:spPr>
        <p:txBody>
          <a:bodyPr/>
          <a:lstStyle/>
          <a:p>
            <a:pPr algn="just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адміністратори, </a:t>
            </a:r>
            <a:endParaRPr lang="en-US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 algn="just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менеджери та працівники складу невеликого інтернет-магазину, </a:t>
            </a:r>
            <a:endParaRPr lang="en-US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 algn="just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його власник </a:t>
            </a:r>
            <a:endParaRPr lang="en-US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 algn="just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керівник, який потребує контролю складських операцій та залишків товарів.</a:t>
            </a:r>
          </a:p>
        </p:txBody>
      </p:sp>
    </p:spTree>
    <p:extLst>
      <p:ext uri="{BB962C8B-B14F-4D97-AF65-F5344CB8AC3E}">
        <p14:creationId xmlns:p14="http://schemas.microsoft.com/office/powerpoint/2010/main" val="2237730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5CE31CB3-907B-BAD3-7321-EC4EFEFC91DB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B006AD7A-B1CD-45C8-1AD6-F5BD0F906DA1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FEF36491-F9BC-FA27-EA55-465858336379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3065AEB0-5887-6E0E-A768-666553D52F2D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F6311552-DFDD-A14E-AB4B-487E1E077735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5DB0C437-3A9B-129C-7E7A-3C9215E7077B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73547719-69F1-4954-475D-F919734A9C95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C431FB-ECD7-476F-1EA0-A6F922020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67" y="431646"/>
            <a:ext cx="10515600" cy="1325563"/>
          </a:xfrm>
        </p:spPr>
        <p:txBody>
          <a:bodyPr>
            <a:normAutofit/>
          </a:bodyPr>
          <a:lstStyle/>
          <a:p>
            <a:r>
              <a:rPr lang="uk-UA" sz="3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Мета проєкту:</a:t>
            </a: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CBCA2E87-435D-E6B6-8E25-6F0D07D2E28C}"/>
              </a:ext>
            </a:extLst>
          </p:cNvPr>
          <p:cNvSpPr/>
          <p:nvPr/>
        </p:nvSpPr>
        <p:spPr>
          <a:xfrm rot="16200000">
            <a:off x="4717614" y="-1170106"/>
            <a:ext cx="3220724" cy="10051647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74121F3F-ADE2-99CA-D5CF-1C46E0F34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3876" y="2506662"/>
            <a:ext cx="9742226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uk-UA" sz="2400" dirty="0">
                <a:solidFill>
                  <a:srgbClr val="E8EBED"/>
                </a:solidFill>
                <a:effectLst/>
                <a:latin typeface="Cavolini" panose="03000502040302020204" pitchFamily="66" charset="0"/>
                <a:cs typeface="Cavolini" panose="03000502040302020204" pitchFamily="66" charset="0"/>
              </a:rPr>
              <a:t>Метою проєкту є розробка </a:t>
            </a:r>
            <a:r>
              <a:rPr lang="uk-UA" sz="2400" dirty="0" err="1">
                <a:solidFill>
                  <a:srgbClr val="E8EBED"/>
                </a:solidFill>
                <a:effectLst/>
                <a:latin typeface="Cavolini" panose="03000502040302020204" pitchFamily="66" charset="0"/>
                <a:cs typeface="Cavolini" panose="03000502040302020204" pitchFamily="66" charset="0"/>
              </a:rPr>
              <a:t>десктопної</a:t>
            </a:r>
            <a:r>
              <a:rPr lang="uk-UA" sz="2400" dirty="0">
                <a:solidFill>
                  <a:srgbClr val="E8EBED"/>
                </a:solidFill>
                <a:effectLst/>
                <a:latin typeface="Cavolini" panose="03000502040302020204" pitchFamily="66" charset="0"/>
                <a:cs typeface="Cavolini" panose="03000502040302020204" pitchFamily="66" charset="0"/>
              </a:rPr>
              <a:t> інформаційної системи для автоматизації складського обліку невеликого інтернет-магазину, що забезпечить зручне ведення даних про товари, категорії, постачальників, складські залишки та рух товарів, а також зменшить кількість помилок при виконанні складських операцій.</a:t>
            </a:r>
            <a:endParaRPr lang="uk-UA" sz="2400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8561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8952F94E-A831-3073-A01E-10BCC48EC5C3}"/>
              </a:ext>
            </a:extLst>
          </p:cNvPr>
          <p:cNvGrpSpPr/>
          <p:nvPr/>
        </p:nvGrpSpPr>
        <p:grpSpPr>
          <a:xfrm>
            <a:off x="838200" y="647722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8457C2D4-2E77-1983-8061-C001CCDF6ED2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E455E428-0C2F-F151-B5B0-56C05660F5E5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7" name="Графіка 17" descr="Magnifying glass outline">
              <a:extLst>
                <a:ext uri="{FF2B5EF4-FFF2-40B4-BE49-F238E27FC236}">
                  <a16:creationId xmlns:a16="http://schemas.microsoft.com/office/drawing/2014/main" id="{76E34CC5-F9AF-FE1B-3984-31D5D2CE5128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61C9A6-681A-D5B9-8F5F-1613ACEAD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6199" y="436584"/>
            <a:ext cx="10515600" cy="1325563"/>
          </a:xfrm>
        </p:spPr>
        <p:txBody>
          <a:bodyPr>
            <a:normAutofit/>
          </a:bodyPr>
          <a:lstStyle/>
          <a:p>
            <a:r>
              <a:rPr lang="uk-UA" sz="32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Непрямі конкуренти: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784BB6C-FA69-DD9D-7DD9-857B81EC462E}"/>
              </a:ext>
            </a:extLst>
          </p:cNvPr>
          <p:cNvSpPr/>
          <p:nvPr/>
        </p:nvSpPr>
        <p:spPr>
          <a:xfrm>
            <a:off x="4986002" y="3474424"/>
            <a:ext cx="3009918" cy="2946992"/>
          </a:xfrm>
          <a:prstGeom prst="ellipse">
            <a:avLst/>
          </a:prstGeom>
          <a:solidFill>
            <a:srgbClr val="9081CD"/>
          </a:solidFill>
          <a:ln>
            <a:noFill/>
          </a:ln>
          <a:effectLst>
            <a:outerShdw blurRad="177800" dist="38100" dir="8100000" sx="106000" sy="106000" algn="tr" rotWithShape="0">
              <a:prstClr val="black">
                <a:alpha val="5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2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Zoho</a:t>
            </a:r>
            <a:r>
              <a:rPr lang="uk-UA" sz="2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uk-UA" sz="2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Inventory</a:t>
            </a:r>
            <a:endParaRPr lang="uk-UA" sz="2800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570FF666-F864-BB44-B49C-67F5391904A7}"/>
              </a:ext>
            </a:extLst>
          </p:cNvPr>
          <p:cNvSpPr/>
          <p:nvPr/>
        </p:nvSpPr>
        <p:spPr>
          <a:xfrm>
            <a:off x="1292898" y="1717017"/>
            <a:ext cx="3009918" cy="2944485"/>
          </a:xfrm>
          <a:prstGeom prst="ellipse">
            <a:avLst/>
          </a:prstGeom>
          <a:solidFill>
            <a:srgbClr val="9081CD"/>
          </a:solidFill>
          <a:ln>
            <a:noFill/>
          </a:ln>
          <a:effectLst>
            <a:outerShdw blurRad="177800" dist="38100" dir="8100000" sx="106000" sy="106000" algn="tr" rotWithShape="0">
              <a:prstClr val="black">
                <a:alpha val="5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2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BAS Малий бізнес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DD3B0B6A-CA6A-B643-BF23-C821BE2AFEC5}"/>
              </a:ext>
            </a:extLst>
          </p:cNvPr>
          <p:cNvSpPr/>
          <p:nvPr/>
        </p:nvSpPr>
        <p:spPr>
          <a:xfrm>
            <a:off x="8397182" y="1570339"/>
            <a:ext cx="3009917" cy="2944484"/>
          </a:xfrm>
          <a:prstGeom prst="ellipse">
            <a:avLst/>
          </a:prstGeom>
          <a:solidFill>
            <a:srgbClr val="9081CD"/>
          </a:solidFill>
          <a:ln>
            <a:noFill/>
          </a:ln>
          <a:effectLst>
            <a:outerShdw blurRad="177800" dist="38100" dir="8100000" sx="106000" sy="106000" algn="tr" rotWithShape="0">
              <a:prstClr val="black">
                <a:alpha val="5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2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Sortly</a:t>
            </a:r>
            <a:endParaRPr lang="uk-UA" sz="2800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E029D2D8-F456-FD27-5F70-06A82CE35989}"/>
              </a:ext>
            </a:extLst>
          </p:cNvPr>
          <p:cNvSpPr/>
          <p:nvPr/>
        </p:nvSpPr>
        <p:spPr>
          <a:xfrm>
            <a:off x="1518864" y="1947935"/>
            <a:ext cx="2527778" cy="2527778"/>
          </a:xfrm>
          <a:prstGeom prst="ellipse">
            <a:avLst/>
          </a:prstGeom>
          <a:noFill/>
          <a:ln>
            <a:solidFill>
              <a:srgbClr val="E8EB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5348D5DF-0D6C-D162-3DFB-B5B0D55BE075}"/>
              </a:ext>
            </a:extLst>
          </p:cNvPr>
          <p:cNvSpPr/>
          <p:nvPr/>
        </p:nvSpPr>
        <p:spPr>
          <a:xfrm>
            <a:off x="8638251" y="1778692"/>
            <a:ext cx="2527778" cy="2527778"/>
          </a:xfrm>
          <a:prstGeom prst="ellipse">
            <a:avLst/>
          </a:prstGeom>
          <a:noFill/>
          <a:ln>
            <a:solidFill>
              <a:srgbClr val="E8EB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71A762ED-0ADE-FD63-58C1-45B706071157}"/>
              </a:ext>
            </a:extLst>
          </p:cNvPr>
          <p:cNvSpPr/>
          <p:nvPr/>
        </p:nvSpPr>
        <p:spPr>
          <a:xfrm>
            <a:off x="5274704" y="3682500"/>
            <a:ext cx="2527778" cy="2527778"/>
          </a:xfrm>
          <a:prstGeom prst="ellipse">
            <a:avLst/>
          </a:prstGeom>
          <a:noFill/>
          <a:ln>
            <a:solidFill>
              <a:srgbClr val="E8EB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693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увати 16">
            <a:extLst>
              <a:ext uri="{FF2B5EF4-FFF2-40B4-BE49-F238E27FC236}">
                <a16:creationId xmlns:a16="http://schemas.microsoft.com/office/drawing/2014/main" id="{7759CD77-1106-87FA-464C-1B38AAB3CEFA}"/>
              </a:ext>
            </a:extLst>
          </p:cNvPr>
          <p:cNvGrpSpPr/>
          <p:nvPr/>
        </p:nvGrpSpPr>
        <p:grpSpPr>
          <a:xfrm>
            <a:off x="579950" y="431482"/>
            <a:ext cx="11347890" cy="5995036"/>
            <a:chOff x="579950" y="431482"/>
            <a:chExt cx="11347890" cy="5995036"/>
          </a:xfrm>
          <a:effectLst>
            <a:outerShdw blurRad="292100" dist="38100" dir="8100000" sx="101000" sy="101000" algn="tr" rotWithShape="0">
              <a:prstClr val="black">
                <a:alpha val="50000"/>
              </a:prstClr>
            </a:outerShdw>
          </a:effectLst>
        </p:grpSpPr>
        <p:sp>
          <p:nvSpPr>
            <p:cNvPr id="10" name="Прямокутник: округлені кути 9">
              <a:extLst>
                <a:ext uri="{FF2B5EF4-FFF2-40B4-BE49-F238E27FC236}">
                  <a16:creationId xmlns:a16="http://schemas.microsoft.com/office/drawing/2014/main" id="{34F35389-0213-5650-BC76-1054C6AED242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A50B9878-686E-1CA5-4DA0-8271DAFA1516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</p:grp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598CA04E-9E03-7CE0-DA7A-F244887DB41F}"/>
              </a:ext>
            </a:extLst>
          </p:cNvPr>
          <p:cNvSpPr/>
          <p:nvPr/>
        </p:nvSpPr>
        <p:spPr>
          <a:xfrm>
            <a:off x="775408" y="1747518"/>
            <a:ext cx="4731313" cy="4563725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855BC4CE-D028-280A-2FF3-F6D6F1B36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Переваги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Дуже широкий функціонал.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Детальний складський облік.</a:t>
            </a:r>
            <a:b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Орієнтація на український бізнес.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4. Масштабованість</a:t>
            </a:r>
            <a:r>
              <a:rPr lang="uk-UA" dirty="0">
                <a:latin typeface="Cavolini" panose="03000502040302020204" pitchFamily="66" charset="0"/>
                <a:cs typeface="Cavolini" panose="03000502040302020204" pitchFamily="66" charset="0"/>
              </a:rPr>
              <a:t>.</a:t>
            </a:r>
            <a:br>
              <a:rPr lang="uk-UA" dirty="0"/>
            </a:br>
            <a:endParaRPr lang="uk-UA" dirty="0"/>
          </a:p>
        </p:txBody>
      </p:sp>
      <p:sp>
        <p:nvSpPr>
          <p:cNvPr id="14" name="Прямокутник: округлені кути 13">
            <a:extLst>
              <a:ext uri="{FF2B5EF4-FFF2-40B4-BE49-F238E27FC236}">
                <a16:creationId xmlns:a16="http://schemas.microsoft.com/office/drawing/2014/main" id="{6DAC382B-EDA9-C98D-1278-123737A7F400}"/>
              </a:ext>
            </a:extLst>
          </p:cNvPr>
          <p:cNvSpPr/>
          <p:nvPr/>
        </p:nvSpPr>
        <p:spPr>
          <a:xfrm>
            <a:off x="6614160" y="1747518"/>
            <a:ext cx="4731313" cy="4563725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3F590-34FE-2650-8156-D3F48237C2F6}"/>
              </a:ext>
            </a:extLst>
          </p:cNvPr>
          <p:cNvSpPr txBox="1"/>
          <p:nvPr/>
        </p:nvSpPr>
        <p:spPr>
          <a:xfrm>
            <a:off x="6685280" y="1825625"/>
            <a:ext cx="517144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Недоліки </a:t>
            </a:r>
          </a:p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Надлишковий функціонал.</a:t>
            </a:r>
            <a:b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Вища складність освоєння.</a:t>
            </a:r>
            <a:b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Менше фокусу саме на простоті.</a:t>
            </a:r>
            <a:b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4. Обмеження базової версії.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7B2EA-76B6-D062-0302-B9CF4FF31251}"/>
              </a:ext>
            </a:extLst>
          </p:cNvPr>
          <p:cNvSpPr txBox="1"/>
          <p:nvPr/>
        </p:nvSpPr>
        <p:spPr>
          <a:xfrm>
            <a:off x="508830" y="715505"/>
            <a:ext cx="62374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BAS </a:t>
            </a:r>
            <a:r>
              <a:rPr lang="uk-UA" sz="44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малий бізнес:</a:t>
            </a:r>
            <a:endParaRPr lang="uk-UA" sz="4400" dirty="0">
              <a:gradFill>
                <a:gsLst>
                  <a:gs pos="0">
                    <a:srgbClr val="C5BAFC"/>
                  </a:gs>
                  <a:gs pos="55000">
                    <a:srgbClr val="1F1A5C">
                      <a:shade val="100000"/>
                      <a:satMod val="115000"/>
                    </a:srgbClr>
                  </a:gs>
                </a:gsLst>
                <a:lin ang="162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6148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Групувати 5">
            <a:extLst>
              <a:ext uri="{FF2B5EF4-FFF2-40B4-BE49-F238E27FC236}">
                <a16:creationId xmlns:a16="http://schemas.microsoft.com/office/drawing/2014/main" id="{608B179D-A0B2-51D9-A759-1A07DA69C0A2}"/>
              </a:ext>
            </a:extLst>
          </p:cNvPr>
          <p:cNvGrpSpPr/>
          <p:nvPr/>
        </p:nvGrpSpPr>
        <p:grpSpPr>
          <a:xfrm>
            <a:off x="579950" y="431482"/>
            <a:ext cx="11347890" cy="5995036"/>
            <a:chOff x="579950" y="431482"/>
            <a:chExt cx="11347890" cy="5995036"/>
          </a:xfrm>
          <a:effectLst>
            <a:outerShdw blurRad="292100" dist="38100" dir="8100000" sx="101000" sy="101000" algn="tr" rotWithShape="0">
              <a:prstClr val="black">
                <a:alpha val="50000"/>
              </a:prstClr>
            </a:outerShdw>
          </a:effectLst>
        </p:grpSpPr>
        <p:sp>
          <p:nvSpPr>
            <p:cNvPr id="7" name="Прямокутник: округлені кути 6">
              <a:extLst>
                <a:ext uri="{FF2B5EF4-FFF2-40B4-BE49-F238E27FC236}">
                  <a16:creationId xmlns:a16="http://schemas.microsoft.com/office/drawing/2014/main" id="{8B06F983-2C8C-8380-57B9-89EED9064B31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357AFE67-D9CB-A39E-57E7-1B6FC0AD1952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65F1E8-308F-D480-8D16-12DD04D1F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ZOHO inventory</a:t>
            </a:r>
            <a:r>
              <a:rPr lang="uk-UA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endParaRPr lang="uk-UA" dirty="0">
              <a:gradFill>
                <a:gsLst>
                  <a:gs pos="0">
                    <a:srgbClr val="C5BAFC"/>
                  </a:gs>
                  <a:gs pos="55000">
                    <a:srgbClr val="1F1A5C">
                      <a:shade val="100000"/>
                      <a:satMod val="115000"/>
                    </a:srgbClr>
                  </a:gs>
                </a:gsLst>
                <a:lin ang="162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0" name="Прямокутник: округлені кути 9">
            <a:extLst>
              <a:ext uri="{FF2B5EF4-FFF2-40B4-BE49-F238E27FC236}">
                <a16:creationId xmlns:a16="http://schemas.microsoft.com/office/drawing/2014/main" id="{9DDCCE83-B248-00F3-E3B0-13E05C30D475}"/>
              </a:ext>
            </a:extLst>
          </p:cNvPr>
          <p:cNvSpPr/>
          <p:nvPr/>
        </p:nvSpPr>
        <p:spPr>
          <a:xfrm>
            <a:off x="907194" y="1757045"/>
            <a:ext cx="5188806" cy="4419918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E3F36F5D-D935-F392-F92E-2A3903F13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7194" y="2015808"/>
            <a:ext cx="527008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Переваги</a:t>
            </a: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br>
              <a:rPr lang="en-US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Добре орієнтований на інтернет-торгівлю.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Хмарна система.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Масштабованість.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4. Інтеграції.</a:t>
            </a:r>
          </a:p>
          <a:p>
            <a:endParaRPr lang="uk-UA" dirty="0"/>
          </a:p>
        </p:txBody>
      </p:sp>
      <p:sp>
        <p:nvSpPr>
          <p:cNvPr id="14" name="Прямокутник: округлені кути 13">
            <a:extLst>
              <a:ext uri="{FF2B5EF4-FFF2-40B4-BE49-F238E27FC236}">
                <a16:creationId xmlns:a16="http://schemas.microsoft.com/office/drawing/2014/main" id="{7F7D0638-3DE8-DC23-BF41-F108E972C884}"/>
              </a:ext>
            </a:extLst>
          </p:cNvPr>
          <p:cNvSpPr/>
          <p:nvPr/>
        </p:nvSpPr>
        <p:spPr>
          <a:xfrm>
            <a:off x="6506650" y="1765300"/>
            <a:ext cx="5029200" cy="4419918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1083-9E53-E572-AA1F-44C92776BD4B}"/>
              </a:ext>
            </a:extLst>
          </p:cNvPr>
          <p:cNvSpPr txBox="1"/>
          <p:nvPr/>
        </p:nvSpPr>
        <p:spPr>
          <a:xfrm>
            <a:off x="6780970" y="2015808"/>
            <a:ext cx="442551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28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Недоліки</a:t>
            </a:r>
            <a:r>
              <a:rPr lang="en-US" sz="28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endParaRPr lang="uk-UA" sz="2800" b="1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Залежність від інтернету.</a:t>
            </a:r>
          </a:p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Підписка. </a:t>
            </a:r>
          </a:p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Надлишковість для дуже маленького магазину.</a:t>
            </a:r>
          </a:p>
        </p:txBody>
      </p:sp>
    </p:spTree>
    <p:extLst>
      <p:ext uri="{BB962C8B-B14F-4D97-AF65-F5344CB8AC3E}">
        <p14:creationId xmlns:p14="http://schemas.microsoft.com/office/powerpoint/2010/main" val="3561667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увати 7">
            <a:extLst>
              <a:ext uri="{FF2B5EF4-FFF2-40B4-BE49-F238E27FC236}">
                <a16:creationId xmlns:a16="http://schemas.microsoft.com/office/drawing/2014/main" id="{E5391B5B-7FFC-6873-6621-8E21982824CF}"/>
              </a:ext>
            </a:extLst>
          </p:cNvPr>
          <p:cNvGrpSpPr/>
          <p:nvPr/>
        </p:nvGrpSpPr>
        <p:grpSpPr>
          <a:xfrm>
            <a:off x="579950" y="431482"/>
            <a:ext cx="11347890" cy="5995036"/>
            <a:chOff x="579950" y="431482"/>
            <a:chExt cx="11347890" cy="5995036"/>
          </a:xfrm>
          <a:effectLst>
            <a:outerShdw blurRad="292100" dist="38100" dir="8100000" sx="101000" sy="101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4F037FA0-3428-39D6-900B-A8BF326AA2A2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Прямокутник: округлені кути 9">
              <a:extLst>
                <a:ext uri="{FF2B5EF4-FFF2-40B4-BE49-F238E27FC236}">
                  <a16:creationId xmlns:a16="http://schemas.microsoft.com/office/drawing/2014/main" id="{32FD5936-B2ED-2162-7AE0-94DE3816912C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1CED85-E5F3-8340-FDA0-27FCF8AC1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370" y="431481"/>
            <a:ext cx="10515600" cy="1325563"/>
          </a:xfrm>
        </p:spPr>
        <p:txBody>
          <a:bodyPr/>
          <a:lstStyle/>
          <a:p>
            <a:r>
              <a:rPr lang="en-US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SORTLY</a:t>
            </a:r>
            <a:r>
              <a:rPr lang="uk-UA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endParaRPr lang="uk-UA" dirty="0"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484B49E1-E88A-3F99-0FBE-73595B482566}"/>
              </a:ext>
            </a:extLst>
          </p:cNvPr>
          <p:cNvSpPr/>
          <p:nvPr/>
        </p:nvSpPr>
        <p:spPr>
          <a:xfrm>
            <a:off x="858520" y="1757045"/>
            <a:ext cx="5029200" cy="4419918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245DF651-8894-6185-7339-1F2137A64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730" y="2027555"/>
            <a:ext cx="51562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Переваги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Простий інтерфейс.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Візуальний облік.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QR та штрихкоди.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4. Контроль мінімальних залишків.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5. Командна робота.</a:t>
            </a:r>
          </a:p>
          <a:p>
            <a:endParaRPr lang="uk-UA" dirty="0"/>
          </a:p>
        </p:txBody>
      </p:sp>
      <p:sp>
        <p:nvSpPr>
          <p:cNvPr id="14" name="Прямокутник: округлені кути 13">
            <a:extLst>
              <a:ext uri="{FF2B5EF4-FFF2-40B4-BE49-F238E27FC236}">
                <a16:creationId xmlns:a16="http://schemas.microsoft.com/office/drawing/2014/main" id="{F2650B8C-963D-2FE9-696C-E8B4296215AF}"/>
              </a:ext>
            </a:extLst>
          </p:cNvPr>
          <p:cNvSpPr/>
          <p:nvPr/>
        </p:nvSpPr>
        <p:spPr>
          <a:xfrm>
            <a:off x="6558280" y="1757044"/>
            <a:ext cx="5029200" cy="4419918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847432-5425-0951-B544-8D38695CEAC8}"/>
              </a:ext>
            </a:extLst>
          </p:cNvPr>
          <p:cNvSpPr txBox="1"/>
          <p:nvPr/>
        </p:nvSpPr>
        <p:spPr>
          <a:xfrm>
            <a:off x="6777550" y="1980237"/>
            <a:ext cx="540854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Недоліки</a:t>
            </a:r>
          </a:p>
          <a:p>
            <a:pPr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Більший акцент на </a:t>
            </a:r>
            <a:r>
              <a:rPr lang="uk-UA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inventory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uk-UA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tracking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, ніж на класичному складському документообігу.</a:t>
            </a:r>
          </a:p>
          <a:p>
            <a:pPr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накладна → складська операція → зміна залишку.</a:t>
            </a:r>
          </a:p>
          <a:p>
            <a:pPr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Хмарна модель.</a:t>
            </a:r>
          </a:p>
          <a:p>
            <a:pPr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Частина можливостей залежить від тарифу.</a:t>
            </a:r>
          </a:p>
        </p:txBody>
      </p:sp>
    </p:spTree>
    <p:extLst>
      <p:ext uri="{BB962C8B-B14F-4D97-AF65-F5344CB8AC3E}">
        <p14:creationId xmlns:p14="http://schemas.microsoft.com/office/powerpoint/2010/main" val="2905068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увати 7">
            <a:extLst>
              <a:ext uri="{FF2B5EF4-FFF2-40B4-BE49-F238E27FC236}">
                <a16:creationId xmlns:a16="http://schemas.microsoft.com/office/drawing/2014/main" id="{95E9EDB6-B932-46C3-E458-0A4C4DC4677A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A815479A-C39C-ED65-D039-312F26FB76D5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Прямокутник: округлені кути 9">
              <a:extLst>
                <a:ext uri="{FF2B5EF4-FFF2-40B4-BE49-F238E27FC236}">
                  <a16:creationId xmlns:a16="http://schemas.microsoft.com/office/drawing/2014/main" id="{4359F1FB-232D-3DF0-D18E-200F780D66E0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A2114C51-60FC-79DF-CB70-3EE5CE1C53A7}"/>
              </a:ext>
            </a:extLst>
          </p:cNvPr>
          <p:cNvGrpSpPr/>
          <p:nvPr/>
        </p:nvGrpSpPr>
        <p:grpSpPr>
          <a:xfrm>
            <a:off x="838200" y="647722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D88B702F-52FD-5458-FBB9-93135B80BA5F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318CBAE6-7F3C-106E-5FFE-E6D16C8176BD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7" name="Графіка 17" descr="Magnifying glass outline">
              <a:extLst>
                <a:ext uri="{FF2B5EF4-FFF2-40B4-BE49-F238E27FC236}">
                  <a16:creationId xmlns:a16="http://schemas.microsoft.com/office/drawing/2014/main" id="{3959020D-3308-53CA-3C22-DC2BDC287F5C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D7A4AA-C9E5-D3A2-3A5E-68206E5E6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275" y="456904"/>
            <a:ext cx="10515600" cy="1325563"/>
          </a:xfrm>
        </p:spPr>
        <p:txBody>
          <a:bodyPr>
            <a:normAutofit/>
          </a:bodyPr>
          <a:lstStyle/>
          <a:p>
            <a:r>
              <a:rPr lang="uk-UA" sz="3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Основні переваги:</a:t>
            </a: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A113A4A7-6AC9-12AA-FF7B-A6863CDDF09A}"/>
              </a:ext>
            </a:extLst>
          </p:cNvPr>
          <p:cNvSpPr/>
          <p:nvPr/>
        </p:nvSpPr>
        <p:spPr>
          <a:xfrm rot="16200000">
            <a:off x="4642553" y="-1279400"/>
            <a:ext cx="3108705" cy="9959004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993F613D-BBA3-CDC0-01EC-AB73C1B2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648" y="2285053"/>
            <a:ext cx="10515600" cy="4351338"/>
          </a:xfrm>
        </p:spPr>
        <p:txBody>
          <a:bodyPr/>
          <a:lstStyle/>
          <a:p>
            <a:pPr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простіший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за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великі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ERP;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орієнтований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на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малий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бізнес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локальний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десктопний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застосунок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зручний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контроль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залишків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автоматичне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оновлення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складу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після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накладних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попередження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про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низькі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запаси.</a:t>
            </a:r>
          </a:p>
          <a:p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403894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66E6A6F0-C8E8-3C39-1560-D58B03C34A0E}"/>
              </a:ext>
            </a:extLst>
          </p:cNvPr>
          <p:cNvGrpSpPr/>
          <p:nvPr/>
        </p:nvGrpSpPr>
        <p:grpSpPr>
          <a:xfrm>
            <a:off x="895898" y="537567"/>
            <a:ext cx="10961350" cy="5672711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A99ECCD3-81A4-C5EC-60E3-8884FAE74C55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A625CF53-6B3F-7CAD-2D6A-989913337EFA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84596702-40E1-4FD5-7C12-5DB085D23336}"/>
              </a:ext>
            </a:extLst>
          </p:cNvPr>
          <p:cNvGrpSpPr/>
          <p:nvPr/>
        </p:nvGrpSpPr>
        <p:grpSpPr>
          <a:xfrm>
            <a:off x="838200" y="647722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275AA7C5-9B8D-C8A2-B239-E0D484AE24F7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AB90638E-1A41-680E-7E3B-3057EC304FE8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8F748AD3-B64D-C51B-57DC-AA866E3E5196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D27E1C-59F7-B51D-695F-103AEF5C3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679" y="431646"/>
            <a:ext cx="10515600" cy="1325563"/>
          </a:xfrm>
        </p:spPr>
        <p:txBody>
          <a:bodyPr>
            <a:normAutofit/>
          </a:bodyPr>
          <a:lstStyle/>
          <a:p>
            <a:r>
              <a:rPr lang="uk-UA" sz="28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Актуальність проєкту:</a:t>
            </a: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5A2D4FCB-25C7-9E88-609C-FD9D1246CD05}"/>
              </a:ext>
            </a:extLst>
          </p:cNvPr>
          <p:cNvSpPr/>
          <p:nvPr/>
        </p:nvSpPr>
        <p:spPr>
          <a:xfrm rot="16200000">
            <a:off x="4242719" y="-879566"/>
            <a:ext cx="3908373" cy="9959004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2DE3CB10-70E1-D2FE-A918-521E9C65D6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3341" y="2282825"/>
            <a:ext cx="9596120" cy="4351338"/>
          </a:xfrm>
        </p:spPr>
        <p:txBody>
          <a:bodyPr>
            <a:normAutofit/>
          </a:bodyPr>
          <a:lstStyle/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Автоматизація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рутинних складських операцій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Зменшення ручної роботи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та кількості помилок при внесенні даних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Актуальний контроль залишків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товарів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Швидке відстеження руху товарів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- надходження, продажу та списання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Своєчасне виявленні низьких залишків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Підвищення ефективності роботи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невеликого магазину без використання складних ERP-систем</a:t>
            </a:r>
          </a:p>
          <a:p>
            <a:endParaRPr lang="uk-UA" dirty="0">
              <a:solidFill>
                <a:srgbClr val="E8EBE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9457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4BC25194-7646-2E87-55A2-68B6668B2F41}"/>
              </a:ext>
            </a:extLst>
          </p:cNvPr>
          <p:cNvGrpSpPr/>
          <p:nvPr/>
        </p:nvGrpSpPr>
        <p:grpSpPr>
          <a:xfrm>
            <a:off x="946698" y="537567"/>
            <a:ext cx="10961350" cy="5672711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110019E9-CDC7-7DD4-4984-A001203ADA77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E59B8626-1805-7CB2-237A-73F0B1A90B69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FB32315A-43F8-51D4-5653-90AA388FCA8B}"/>
              </a:ext>
            </a:extLst>
          </p:cNvPr>
          <p:cNvGrpSpPr/>
          <p:nvPr/>
        </p:nvGrpSpPr>
        <p:grpSpPr>
          <a:xfrm>
            <a:off x="946698" y="647722"/>
            <a:ext cx="6588760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176C9C17-E798-728E-2614-5DF6557F5837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D0F3023A-82DB-1E5A-8D5E-742BA487C556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9E5997E2-EE36-5FAD-D796-C6DB1A627912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1" name="Прямокутник: округлені кути 20">
            <a:extLst>
              <a:ext uri="{FF2B5EF4-FFF2-40B4-BE49-F238E27FC236}">
                <a16:creationId xmlns:a16="http://schemas.microsoft.com/office/drawing/2014/main" id="{CA301A91-1C04-2754-CF11-24F0B32B2A4F}"/>
              </a:ext>
            </a:extLst>
          </p:cNvPr>
          <p:cNvSpPr/>
          <p:nvPr/>
        </p:nvSpPr>
        <p:spPr>
          <a:xfrm rot="16200000">
            <a:off x="4427642" y="-1081492"/>
            <a:ext cx="3876405" cy="10394819"/>
          </a:xfrm>
          <a:prstGeom prst="roundRect">
            <a:avLst>
              <a:gd name="adj" fmla="val 1507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50209512-3E77-A051-8D21-D605ACAE8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8435" y="2479680"/>
            <a:ext cx="10394818" cy="3776575"/>
          </a:xfrm>
        </p:spPr>
        <p:txBody>
          <a:bodyPr>
            <a:normAutofit/>
          </a:bodyPr>
          <a:lstStyle/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Керування товарами та категоріями — додавання, редагування, видалення та перегляд.</a:t>
            </a:r>
          </a:p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Облік складських залишків — контроль актуальної кількості товарів.</a:t>
            </a:r>
          </a:p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Облік постачальників — контактна інформація.</a:t>
            </a:r>
          </a:p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Робота з накладними та списаннями — реєстрація надходження і вибуття товарів.</a:t>
            </a:r>
          </a:p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Пошук, фільтрація та звіти — швидкий доступ до інформації про товари й рух товарів.</a:t>
            </a:r>
            <a:endParaRPr lang="uk-UA" sz="3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DD92C7-9E4F-929D-ECCC-6F82C7F4785A}"/>
              </a:ext>
            </a:extLst>
          </p:cNvPr>
          <p:cNvSpPr txBox="1"/>
          <p:nvPr/>
        </p:nvSpPr>
        <p:spPr>
          <a:xfrm>
            <a:off x="1802734" y="839357"/>
            <a:ext cx="6172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Основна функціональність</a:t>
            </a:r>
            <a:r>
              <a:rPr lang="en-US" sz="2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endParaRPr lang="uk-UA" sz="2600" dirty="0">
              <a:solidFill>
                <a:srgbClr val="2C227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921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Групувати 23">
            <a:extLst>
              <a:ext uri="{FF2B5EF4-FFF2-40B4-BE49-F238E27FC236}">
                <a16:creationId xmlns:a16="http://schemas.microsoft.com/office/drawing/2014/main" id="{D18222DC-781C-6811-C863-8F63EEDA9743}"/>
              </a:ext>
            </a:extLst>
          </p:cNvPr>
          <p:cNvGrpSpPr/>
          <p:nvPr/>
        </p:nvGrpSpPr>
        <p:grpSpPr>
          <a:xfrm flipH="1">
            <a:off x="7495638" y="2037336"/>
            <a:ext cx="2729956" cy="1996143"/>
            <a:chOff x="579950" y="431482"/>
            <a:chExt cx="11347890" cy="5995036"/>
          </a:xfrm>
          <a:effectLst>
            <a:outerShdw blurRad="114300" dist="38100" dir="8100000" sx="105000" sy="105000" algn="tr" rotWithShape="0">
              <a:prstClr val="black">
                <a:alpha val="28000"/>
              </a:prstClr>
            </a:outerShdw>
          </a:effectLst>
        </p:grpSpPr>
        <p:sp>
          <p:nvSpPr>
            <p:cNvPr id="25" name="Прямокутник: округлені кути 24">
              <a:extLst>
                <a:ext uri="{FF2B5EF4-FFF2-40B4-BE49-F238E27FC236}">
                  <a16:creationId xmlns:a16="http://schemas.microsoft.com/office/drawing/2014/main" id="{D5B50A95-8AC1-8266-E156-8819C141E87D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26" name="Прямокутник: округлені кути 25">
              <a:extLst>
                <a:ext uri="{FF2B5EF4-FFF2-40B4-BE49-F238E27FC236}">
                  <a16:creationId xmlns:a16="http://schemas.microsoft.com/office/drawing/2014/main" id="{DDC58005-AD69-AF83-F5D6-B9EF82F32495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20" name="Групувати 19">
            <a:extLst>
              <a:ext uri="{FF2B5EF4-FFF2-40B4-BE49-F238E27FC236}">
                <a16:creationId xmlns:a16="http://schemas.microsoft.com/office/drawing/2014/main" id="{93B9C7A8-C534-CECE-B7E5-C63BF6ED777C}"/>
              </a:ext>
            </a:extLst>
          </p:cNvPr>
          <p:cNvGrpSpPr/>
          <p:nvPr/>
        </p:nvGrpSpPr>
        <p:grpSpPr>
          <a:xfrm>
            <a:off x="946698" y="1753996"/>
            <a:ext cx="3866208" cy="2042499"/>
            <a:chOff x="579950" y="431482"/>
            <a:chExt cx="11347890" cy="5995036"/>
          </a:xfrm>
          <a:effectLst>
            <a:outerShdw blurRad="114300" dist="38100" dir="8100000" sx="105000" sy="105000" algn="tr" rotWithShape="0">
              <a:prstClr val="black">
                <a:alpha val="28000"/>
              </a:prstClr>
            </a:outerShdw>
          </a:effectLst>
        </p:grpSpPr>
        <p:sp>
          <p:nvSpPr>
            <p:cNvPr id="18" name="Прямокутник: округлені кути 17">
              <a:extLst>
                <a:ext uri="{FF2B5EF4-FFF2-40B4-BE49-F238E27FC236}">
                  <a16:creationId xmlns:a16="http://schemas.microsoft.com/office/drawing/2014/main" id="{7364F542-5A6D-9E9F-AF1E-6B2BB63C6876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9" name="Прямокутник: округлені кути 18">
              <a:extLst>
                <a:ext uri="{FF2B5EF4-FFF2-40B4-BE49-F238E27FC236}">
                  <a16:creationId xmlns:a16="http://schemas.microsoft.com/office/drawing/2014/main" id="{A45C4C36-774D-D584-BE6B-373271B46236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9" name="Групувати 8">
            <a:extLst>
              <a:ext uri="{FF2B5EF4-FFF2-40B4-BE49-F238E27FC236}">
                <a16:creationId xmlns:a16="http://schemas.microsoft.com/office/drawing/2014/main" id="{30049F9F-C123-5E1C-9088-8F68924E624D}"/>
              </a:ext>
            </a:extLst>
          </p:cNvPr>
          <p:cNvGrpSpPr/>
          <p:nvPr/>
        </p:nvGrpSpPr>
        <p:grpSpPr>
          <a:xfrm>
            <a:off x="946698" y="647722"/>
            <a:ext cx="6588760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10" name="Прямокутник: округлені кути 9">
              <a:extLst>
                <a:ext uri="{FF2B5EF4-FFF2-40B4-BE49-F238E27FC236}">
                  <a16:creationId xmlns:a16="http://schemas.microsoft.com/office/drawing/2014/main" id="{0723CCE3-B9BB-8615-54CD-9C6147F8DE37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11" name="Прямокутник: округлені кути 10">
              <a:extLst>
                <a:ext uri="{FF2B5EF4-FFF2-40B4-BE49-F238E27FC236}">
                  <a16:creationId xmlns:a16="http://schemas.microsoft.com/office/drawing/2014/main" id="{143EA748-BA97-1821-F8A3-05875092E2B2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2" name="Графіка 17" descr="Magnifying glass outline">
              <a:extLst>
                <a:ext uri="{FF2B5EF4-FFF2-40B4-BE49-F238E27FC236}">
                  <a16:creationId xmlns:a16="http://schemas.microsoft.com/office/drawing/2014/main" id="{268B96D9-40EF-E8CD-06AB-EDDEBAACFD4F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F5CC6A-766C-DE5C-C5B3-B7B569125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2428" y="395277"/>
            <a:ext cx="10515600" cy="1325563"/>
          </a:xfrm>
        </p:spPr>
        <p:txBody>
          <a:bodyPr>
            <a:normAutofit/>
          </a:bodyPr>
          <a:lstStyle/>
          <a:p>
            <a:r>
              <a:rPr lang="uk-UA" sz="36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Технології: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4C5409-9DD8-385F-51FF-E75B52E115E5}"/>
              </a:ext>
            </a:extLst>
          </p:cNvPr>
          <p:cNvSpPr txBox="1"/>
          <p:nvPr/>
        </p:nvSpPr>
        <p:spPr>
          <a:xfrm>
            <a:off x="1207561" y="2186441"/>
            <a:ext cx="61061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C#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.NET 8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ADO.NET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GitHub</a:t>
            </a: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uk-UA" sz="1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Actions</a:t>
            </a: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xUnit</a:t>
            </a: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25C59F-96C7-BB17-ECEE-9FBF6D3F0A9E}"/>
              </a:ext>
            </a:extLst>
          </p:cNvPr>
          <p:cNvSpPr txBox="1"/>
          <p:nvPr/>
        </p:nvSpPr>
        <p:spPr>
          <a:xfrm>
            <a:off x="1168435" y="1885440"/>
            <a:ext cx="1879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Back-end:</a:t>
            </a:r>
            <a:endParaRPr lang="uk-UA" b="1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0ABCF0-23B4-FCB9-2379-EE2179D6408A}"/>
              </a:ext>
            </a:extLst>
          </p:cNvPr>
          <p:cNvSpPr txBox="1"/>
          <p:nvPr/>
        </p:nvSpPr>
        <p:spPr>
          <a:xfrm>
            <a:off x="8618382" y="2894127"/>
            <a:ext cx="15716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WPF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XAML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0C9BB0-AC4A-E811-DA1A-FB4B30334CC7}"/>
              </a:ext>
            </a:extLst>
          </p:cNvPr>
          <p:cNvSpPr txBox="1"/>
          <p:nvPr/>
        </p:nvSpPr>
        <p:spPr>
          <a:xfrm>
            <a:off x="8618382" y="2065783"/>
            <a:ext cx="1759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Front-end:</a:t>
            </a:r>
            <a:endParaRPr lang="uk-UA" b="1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grpSp>
        <p:nvGrpSpPr>
          <p:cNvPr id="28" name="Групувати 27">
            <a:extLst>
              <a:ext uri="{FF2B5EF4-FFF2-40B4-BE49-F238E27FC236}">
                <a16:creationId xmlns:a16="http://schemas.microsoft.com/office/drawing/2014/main" id="{207F07A4-1F17-6067-88EC-C23D9CC8899E}"/>
              </a:ext>
            </a:extLst>
          </p:cNvPr>
          <p:cNvGrpSpPr/>
          <p:nvPr/>
        </p:nvGrpSpPr>
        <p:grpSpPr>
          <a:xfrm>
            <a:off x="4005867" y="4262096"/>
            <a:ext cx="3866208" cy="2042499"/>
            <a:chOff x="579950" y="431482"/>
            <a:chExt cx="11347890" cy="5995036"/>
          </a:xfrm>
          <a:effectLst>
            <a:outerShdw blurRad="114300" dist="38100" dir="8100000" sx="105000" sy="105000" algn="tr" rotWithShape="0">
              <a:prstClr val="black">
                <a:alpha val="28000"/>
              </a:prstClr>
            </a:outerShdw>
          </a:effectLst>
        </p:grpSpPr>
        <p:sp>
          <p:nvSpPr>
            <p:cNvPr id="29" name="Прямокутник: округлені кути 28">
              <a:extLst>
                <a:ext uri="{FF2B5EF4-FFF2-40B4-BE49-F238E27FC236}">
                  <a16:creationId xmlns:a16="http://schemas.microsoft.com/office/drawing/2014/main" id="{892E9C2E-9758-D86D-8B98-2F8B5B2B8B63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30" name="Прямокутник: округлені кути 29">
              <a:extLst>
                <a:ext uri="{FF2B5EF4-FFF2-40B4-BE49-F238E27FC236}">
                  <a16:creationId xmlns:a16="http://schemas.microsoft.com/office/drawing/2014/main" id="{5193CF51-6AE3-BCDB-5BB6-D8226EDA4109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0799ED30-EE08-E83C-4618-AF2EAB014A58}"/>
              </a:ext>
            </a:extLst>
          </p:cNvPr>
          <p:cNvSpPr txBox="1"/>
          <p:nvPr/>
        </p:nvSpPr>
        <p:spPr>
          <a:xfrm>
            <a:off x="4119096" y="4374831"/>
            <a:ext cx="2158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Бази даних: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CE0D12-238E-B077-5995-7EE03CB090FA}"/>
              </a:ext>
            </a:extLst>
          </p:cNvPr>
          <p:cNvSpPr txBox="1"/>
          <p:nvPr/>
        </p:nvSpPr>
        <p:spPr>
          <a:xfrm>
            <a:off x="4119096" y="4913267"/>
            <a:ext cx="280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PostgreSQL</a:t>
            </a:r>
            <a:endParaRPr lang="uk-UA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2610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кутник: округлені кути 7">
            <a:extLst>
              <a:ext uri="{FF2B5EF4-FFF2-40B4-BE49-F238E27FC236}">
                <a16:creationId xmlns:a16="http://schemas.microsoft.com/office/drawing/2014/main" id="{6B0B25AA-D9FE-438C-2C9B-6E1901D7E518}"/>
              </a:ext>
            </a:extLst>
          </p:cNvPr>
          <p:cNvSpPr/>
          <p:nvPr/>
        </p:nvSpPr>
        <p:spPr>
          <a:xfrm>
            <a:off x="830753" y="338580"/>
            <a:ext cx="4421529" cy="960699"/>
          </a:xfrm>
          <a:prstGeom prst="roundRect">
            <a:avLst/>
          </a:prstGeom>
          <a:solidFill>
            <a:srgbClr val="9081CD"/>
          </a:solidFill>
          <a:ln>
            <a:noFill/>
          </a:ln>
          <a:effectLst>
            <a:outerShdw blurRad="177800" dist="38100" dir="8100000" sx="106000" sy="106000" algn="tr" rotWithShape="0">
              <a:prstClr val="black">
                <a:alpha val="4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9E316F57-A841-0319-303B-5BD5DEAD92DF}"/>
              </a:ext>
            </a:extLst>
          </p:cNvPr>
          <p:cNvGrpSpPr/>
          <p:nvPr/>
        </p:nvGrpSpPr>
        <p:grpSpPr>
          <a:xfrm>
            <a:off x="830753" y="1664143"/>
            <a:ext cx="9968229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E38931BD-9A3B-BB4A-14B1-CDE8255BE3E3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9CC2370D-B770-57D8-5200-8A833DCF5476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7" name="Графіка 17" descr="Magnifying glass outline">
              <a:extLst>
                <a:ext uri="{FF2B5EF4-FFF2-40B4-BE49-F238E27FC236}">
                  <a16:creationId xmlns:a16="http://schemas.microsoft.com/office/drawing/2014/main" id="{F05C4F38-F947-785F-3A5F-8341525C99E6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362D71-0AC5-2455-C53B-DE13679E9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748" y="148120"/>
            <a:ext cx="4544028" cy="1325563"/>
          </a:xfrm>
        </p:spPr>
        <p:txBody>
          <a:bodyPr/>
          <a:lstStyle/>
          <a:p>
            <a:r>
              <a:rPr lang="uk-UA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Наш </a:t>
            </a:r>
            <a:r>
              <a:rPr lang="en-US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GitHub</a:t>
            </a:r>
            <a:r>
              <a:rPr lang="uk-UA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F58D4058-511F-B29A-8EB5-14BFD6E7B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5336" y="1820298"/>
            <a:ext cx="8193809" cy="45163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C227A"/>
                </a:solidFill>
                <a:hlinkClick r:id="rId2"/>
              </a:rPr>
              <a:t>https://github.com/SemYanyshyn/StockFlow</a:t>
            </a:r>
            <a:endParaRPr lang="uk-UA" dirty="0">
              <a:solidFill>
                <a:srgbClr val="2C227A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19ED43C-E7C4-5613-9B62-D5CEE7EDEC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6604" y="2677182"/>
            <a:ext cx="6926224" cy="3940186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  <p:extLst>
      <p:ext uri="{BB962C8B-B14F-4D97-AF65-F5344CB8AC3E}">
        <p14:creationId xmlns:p14="http://schemas.microsoft.com/office/powerpoint/2010/main" val="4101702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65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67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3" name="Rectangle 69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1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Freeform: Shape 73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62FA3-AB32-1128-2756-F751393BA2BE}"/>
              </a:ext>
            </a:extLst>
          </p:cNvPr>
          <p:cNvSpPr txBox="1"/>
          <p:nvPr/>
        </p:nvSpPr>
        <p:spPr>
          <a:xfrm>
            <a:off x="4053416" y="1439480"/>
            <a:ext cx="8147713" cy="3081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000" b="1" kern="1200" dirty="0">
                <a:solidFill>
                  <a:srgbClr val="FFFFFF"/>
                </a:solidFill>
                <a:latin typeface="Cavolini" panose="03000502040302020204" pitchFamily="66" charset="0"/>
                <a:ea typeface="+mj-ea"/>
                <a:cs typeface="Cavolini" panose="03000502040302020204" pitchFamily="66" charset="0"/>
              </a:rPr>
              <a:t>ДЯКУЄМО ЗА УВАГУ</a:t>
            </a:r>
          </a:p>
        </p:txBody>
      </p:sp>
    </p:spTree>
    <p:extLst>
      <p:ext uri="{BB962C8B-B14F-4D97-AF65-F5344CB8AC3E}">
        <p14:creationId xmlns:p14="http://schemas.microsoft.com/office/powerpoint/2010/main" val="245618345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Настроювані 1">
      <a:dk1>
        <a:sysClr val="windowText" lastClr="000000"/>
      </a:dk1>
      <a:lt1>
        <a:sysClr val="window" lastClr="FFFFFF"/>
      </a:lt1>
      <a:dk2>
        <a:srgbClr val="7030A0"/>
      </a:dk2>
      <a:lt2>
        <a:srgbClr val="EAE5EB"/>
      </a:lt2>
      <a:accent1>
        <a:srgbClr val="4E1E76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80978887A42EE147A6B889BE1F9BFE4F" ma:contentTypeVersion="10" ma:contentTypeDescription="Створення нового документа." ma:contentTypeScope="" ma:versionID="f7926ec231ce9557e6983c1f42a2db67">
  <xsd:schema xmlns:xsd="http://www.w3.org/2001/XMLSchema" xmlns:xs="http://www.w3.org/2001/XMLSchema" xmlns:p="http://schemas.microsoft.com/office/2006/metadata/properties" xmlns:ns3="30247769-a1d4-4a78-966c-24a42d4b375a" targetNamespace="http://schemas.microsoft.com/office/2006/metadata/properties" ma:root="true" ma:fieldsID="a51bfbca9a63862280d842bd6040da3f" ns3:_="">
    <xsd:import namespace="30247769-a1d4-4a78-966c-24a42d4b375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247769-a1d4-4a78-966c-24a42d4b375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вмісту"/>
        <xsd:element ref="dc:title" minOccurs="0" maxOccurs="1" ma:index="4" ma:displayName="Заголовок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0247769-a1d4-4a78-966c-24a42d4b375a" xsi:nil="true"/>
  </documentManagement>
</p:properties>
</file>

<file path=customXml/itemProps1.xml><?xml version="1.0" encoding="utf-8"?>
<ds:datastoreItem xmlns:ds="http://schemas.openxmlformats.org/officeDocument/2006/customXml" ds:itemID="{16A15FDF-F3EF-4D39-A61A-82B463994D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0247769-a1d4-4a78-966c-24a42d4b375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A962687-4E47-450B-8EC6-5A1327948C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FBBD702-6B9F-4DFE-9A74-96C91562E16D}">
  <ds:schemaRefs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30247769-a1d4-4a78-966c-24a42d4b375a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985</TotalTime>
  <Words>523</Words>
  <Application>Microsoft Office PowerPoint</Application>
  <PresentationFormat>Широкий екран</PresentationFormat>
  <Paragraphs>92</Paragraphs>
  <Slides>16</Slides>
  <Notes>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Cavolini</vt:lpstr>
      <vt:lpstr>Wingdings</vt:lpstr>
      <vt:lpstr>Тема Office</vt:lpstr>
      <vt:lpstr>StockFlow</vt:lpstr>
      <vt:lpstr>Наша  команда:</vt:lpstr>
      <vt:lpstr>Аналіз проблеми:</vt:lpstr>
      <vt:lpstr>Рішення:</vt:lpstr>
      <vt:lpstr>Цільові користувачі:</vt:lpstr>
      <vt:lpstr>Мета проєкту:</vt:lpstr>
      <vt:lpstr>Непрямі конкуренти:</vt:lpstr>
      <vt:lpstr>Презентація PowerPoint</vt:lpstr>
      <vt:lpstr>ZOHO inventory:</vt:lpstr>
      <vt:lpstr>SORTLY:</vt:lpstr>
      <vt:lpstr>Основні переваги:</vt:lpstr>
      <vt:lpstr>Актуальність проєкту:</vt:lpstr>
      <vt:lpstr>Презентація PowerPoint</vt:lpstr>
      <vt:lpstr>Технології:</vt:lpstr>
      <vt:lpstr>Наш GitHub: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Тарабій Олександра</dc:creator>
  <cp:lastModifiedBy>Тарабій Олександра</cp:lastModifiedBy>
  <cp:revision>6</cp:revision>
  <dcterms:created xsi:type="dcterms:W3CDTF">2026-09-08T07:21:58Z</dcterms:created>
  <dcterms:modified xsi:type="dcterms:W3CDTF">2026-09-10T10:48:22Z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0x01010080978887A42EE147A6B889BE1F9BFE4F</vt:lpwstr>
  </property>
</Properties>
</file>